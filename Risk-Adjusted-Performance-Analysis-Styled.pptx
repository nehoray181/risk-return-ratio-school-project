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D1CC"/>
                </a:solidFill>
                <a:latin typeface="Calibri"/>
              </a:rPr>
              <a:t>B.SC. RESEARCH PROJECT  ·  SUMMARY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6309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Risk-Adjusted Performance Analysis Based 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5852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9D6F0"/>
                </a:solidFill>
                <a:latin typeface="Calibri"/>
              </a:rPr>
              <a:t>Five classic ratios, one new metric — </a:t>
            </a:r>
            <a:r>
              <a:rPr sz="1500" b="0" i="1">
                <a:solidFill>
                  <a:srgbClr val="4FD1CC"/>
                </a:solidFill>
                <a:latin typeface="Georgia"/>
              </a:rPr>
              <a:t>diff × r × b</a:t>
            </a:r>
            <a:r>
              <a:rPr sz="1500" b="0" i="0">
                <a:solidFill>
                  <a:srgbClr val="C9D6F0"/>
                </a:solidFill>
                <a:latin typeface="Calibri"/>
              </a:rPr>
              <a:t> — tested across 100 ETFs and 9 market regimes.</a:t>
            </a:r>
          </a:p>
        </p:txBody>
      </p:sp>
      <p:pic>
        <p:nvPicPr>
          <p:cNvPr id="5" name="Picture 4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158" y="1325880"/>
            <a:ext cx="4552283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4406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Nehoray Sade   ·   Aviv Asraf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338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9D6F0"/>
                </a:solidFill>
                <a:latin typeface="Calibri"/>
              </a:rPr>
              <a:t>Supervised by Dr. Dvir Ross   ·   Department of Computer Science, Sami Shamoon College of Engineering, Be'er Sheva   ·   June 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8F8B"/>
                </a:solidFill>
                <a:latin typeface="Calibri"/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5224A"/>
                </a:solidFill>
                <a:latin typeface="Georgia"/>
              </a:rPr>
              <a:t>One new metric against five classics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0350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E3548"/>
                </a:solidFill>
                <a:latin typeface="Calibri"/>
              </a:rPr>
              <a:t>The project examines the </a:t>
            </a:r>
            <a:r>
              <a:rPr sz="1450" b="1" i="0">
                <a:solidFill>
                  <a:srgbClr val="2E3548"/>
                </a:solidFill>
                <a:latin typeface="Calibri"/>
              </a:rPr>
              <a:t>Sharpe, Treynor, Calmar, Sortino</a:t>
            </a:r>
            <a:r>
              <a:rPr sz="1450" b="0" i="0">
                <a:solidFill>
                  <a:srgbClr val="2E3548"/>
                </a:solidFill>
                <a:latin typeface="Calibri"/>
              </a:rPr>
              <a:t> and </a:t>
            </a:r>
            <a:r>
              <a:rPr sz="1450" b="1" i="0">
                <a:solidFill>
                  <a:srgbClr val="2E3548"/>
                </a:solidFill>
                <a:latin typeface="Calibri"/>
              </a:rPr>
              <a:t>Information</a:t>
            </a:r>
            <a:r>
              <a:rPr sz="1450" b="0" i="0">
                <a:solidFill>
                  <a:srgbClr val="2E3548"/>
                </a:solidFill>
                <a:latin typeface="Calibri"/>
              </a:rPr>
              <a:t> ratios, and proposes a new metric derived from an exponential regression on the asset price.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6035040" cy="1143000"/>
          </a:xfrm>
          <a:prstGeom prst="roundRect">
            <a:avLst>
              <a:gd name="adj" fmla="val 55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594" y="2926080"/>
            <a:ext cx="5035770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206240"/>
            <a:ext cx="6035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50" b="0" i="0">
                <a:solidFill>
                  <a:srgbClr val="2E3548"/>
                </a:solidFill>
                <a:latin typeface="Calibri"/>
              </a:rPr>
              <a:t>Across 100 ETFs and 9 market regimes, the new metric acts as a </a:t>
            </a:r>
            <a:r>
              <a:rPr sz="1450" b="1" i="0">
                <a:solidFill>
                  <a:srgbClr val="0B6E6B"/>
                </a:solidFill>
                <a:latin typeface="Calibri"/>
              </a:rPr>
              <a:t>mean-reversion signal</a:t>
            </a:r>
            <a:r>
              <a:rPr sz="1450" b="0" i="0">
                <a:solidFill>
                  <a:srgbClr val="2E3548"/>
                </a:solidFill>
                <a:latin typeface="Calibri"/>
              </a:rPr>
              <a:t>, while the classic ratios behave as </a:t>
            </a:r>
            <a:r>
              <a:rPr sz="1450" b="1" i="0">
                <a:solidFill>
                  <a:srgbClr val="9E7008"/>
                </a:solidFill>
                <a:latin typeface="Calibri"/>
              </a:rPr>
              <a:t>momentum signals</a:t>
            </a:r>
            <a:r>
              <a:rPr sz="1450" b="0" i="0">
                <a:solidFill>
                  <a:srgbClr val="2E3548"/>
                </a:solidFill>
                <a:latin typeface="Calibri"/>
              </a:rPr>
              <a:t>.</a:t>
            </a:r>
          </a:p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5224A"/>
                </a:solidFill>
                <a:latin typeface="Calibri"/>
              </a:rPr>
              <a:t>Combining them according to the market regime outperforms each one individually.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600200"/>
            <a:ext cx="4069080" cy="1389888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89520" y="1984248"/>
            <a:ext cx="621792" cy="621792"/>
          </a:xfrm>
          <a:prstGeom prst="ellipse">
            <a:avLst/>
          </a:prstGeom>
          <a:solidFill>
            <a:srgbClr val="0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1">
                <a:solidFill>
                  <a:srgbClr val="FFFFFF"/>
                </a:solidFill>
                <a:latin typeface="Georgia"/>
              </a:rPr>
              <a:t>diff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837943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5224A"/>
                </a:solidFill>
                <a:latin typeface="Georgia"/>
              </a:rPr>
              <a:t>Price deviation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185416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6273"/>
                </a:solidFill>
                <a:latin typeface="Calibri"/>
              </a:rPr>
              <a:t>Distance of the current price from the trend 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172968"/>
            <a:ext cx="4069080" cy="1389888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89520" y="3557015"/>
            <a:ext cx="621792" cy="621792"/>
          </a:xfrm>
          <a:prstGeom prst="ellipse">
            <a:avLst/>
          </a:prstGeom>
          <a:solidFill>
            <a:srgbClr val="0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1">
                <a:solidFill>
                  <a:srgbClr val="FFFFFF"/>
                </a:solidFill>
                <a:latin typeface="Georgia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410711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5224A"/>
                </a:solidFill>
                <a:latin typeface="Georgia"/>
              </a:rPr>
              <a:t>Fit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58183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6273"/>
                </a:solidFill>
                <a:latin typeface="Calibri"/>
              </a:rPr>
              <a:t>Correlation coefficient — quality of fit to the trend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745736"/>
            <a:ext cx="4069080" cy="1389888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89520" y="5129783"/>
            <a:ext cx="621792" cy="621792"/>
          </a:xfrm>
          <a:prstGeom prst="ellipse">
            <a:avLst/>
          </a:prstGeom>
          <a:solidFill>
            <a:srgbClr val="0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1">
                <a:solidFill>
                  <a:srgbClr val="FFFFFF"/>
                </a:solidFill>
                <a:latin typeface="Georgia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983479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5224A"/>
                </a:solidFill>
                <a:latin typeface="Georgia"/>
              </a:rPr>
              <a:t>Growth slope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330951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6273"/>
                </a:solidFill>
                <a:latin typeface="Calibri"/>
              </a:rPr>
              <a:t>Daily growth rate of the fitted trend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27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9E7008"/>
                </a:solidFill>
                <a:latin typeface="Calibri"/>
              </a:rPr>
              <a:t>THE MOMENTUM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5224A"/>
                </a:solidFill>
                <a:latin typeface="Georgia"/>
              </a:rPr>
              <a:t>The five classic ratios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6273"/>
                </a:solidFill>
                <a:latin typeface="Calibri"/>
              </a:rPr>
              <a:t>Each ratio highlights a different aspect of risk — and all five reward strong recent risk-adjusted returns.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3337560" cy="2121408"/>
          </a:xfrm>
          <a:prstGeom prst="roundRect">
            <a:avLst>
              <a:gd name="adj" fmla="val 5500"/>
            </a:avLst>
          </a:prstGeom>
          <a:solidFill>
            <a:srgbClr val="FB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5224A"/>
                </a:solidFill>
                <a:latin typeface="Georgia"/>
              </a:rPr>
              <a:t>Sharpe</a:t>
            </a:r>
            <a:r>
              <a:rPr sz="1150" b="1" i="0">
                <a:solidFill>
                  <a:srgbClr val="9E7008"/>
                </a:solidFill>
                <a:latin typeface="Calibri"/>
              </a:rPr>
              <a:t>  ·  1966</a:t>
            </a:r>
          </a:p>
        </p:txBody>
      </p:sp>
      <p:pic>
        <p:nvPicPr>
          <p:cNvPr id="7" name="Picture 6" descr="f_shar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164" y="2624328"/>
            <a:ext cx="123115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3575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A6273"/>
                </a:solidFill>
                <a:latin typeface="Calibri"/>
              </a:rPr>
              <a:t>Excess return per unit of total volatility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57400"/>
            <a:ext cx="3337560" cy="2121408"/>
          </a:xfrm>
          <a:prstGeom prst="roundRect">
            <a:avLst>
              <a:gd name="adj" fmla="val 5500"/>
            </a:avLst>
          </a:prstGeom>
          <a:solidFill>
            <a:srgbClr val="FB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4028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5224A"/>
                </a:solidFill>
                <a:latin typeface="Georgia"/>
              </a:rPr>
              <a:t>Sortino</a:t>
            </a:r>
            <a:r>
              <a:rPr sz="1150" b="1" i="0">
                <a:solidFill>
                  <a:srgbClr val="9E7008"/>
                </a:solidFill>
                <a:latin typeface="Calibri"/>
              </a:rPr>
              <a:t>  ·  1994</a:t>
            </a:r>
          </a:p>
        </p:txBody>
      </p:sp>
      <p:pic>
        <p:nvPicPr>
          <p:cNvPr id="11" name="Picture 10" descr="f_sorti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427" y="2624328"/>
            <a:ext cx="1316384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63440" y="3575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A6273"/>
                </a:solidFill>
                <a:latin typeface="Calibri"/>
              </a:rPr>
              <a:t>Excess return per unit of downside volatility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57400"/>
            <a:ext cx="3337560" cy="2121408"/>
          </a:xfrm>
          <a:prstGeom prst="roundRect">
            <a:avLst>
              <a:gd name="adj" fmla="val 5500"/>
            </a:avLst>
          </a:prstGeom>
          <a:solidFill>
            <a:srgbClr val="FB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24028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5224A"/>
                </a:solidFill>
                <a:latin typeface="Georgia"/>
              </a:rPr>
              <a:t>Treynor</a:t>
            </a:r>
            <a:r>
              <a:rPr sz="1150" b="1" i="0">
                <a:solidFill>
                  <a:srgbClr val="9E7008"/>
                </a:solidFill>
                <a:latin typeface="Calibri"/>
              </a:rPr>
              <a:t>  ·  1965</a:t>
            </a:r>
          </a:p>
        </p:txBody>
      </p:sp>
      <p:pic>
        <p:nvPicPr>
          <p:cNvPr id="15" name="Picture 14" descr="f_treyn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681" y="2624328"/>
            <a:ext cx="1107637" cy="868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75320" y="3575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A6273"/>
                </a:solidFill>
                <a:latin typeface="Calibri"/>
              </a:rPr>
              <a:t>Excess return per unit of systematic risk (β)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4370832"/>
            <a:ext cx="3337560" cy="2121408"/>
          </a:xfrm>
          <a:prstGeom prst="roundRect">
            <a:avLst>
              <a:gd name="adj" fmla="val 5500"/>
            </a:avLst>
          </a:prstGeom>
          <a:solidFill>
            <a:srgbClr val="FB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455371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5224A"/>
                </a:solidFill>
                <a:latin typeface="Georgia"/>
              </a:rPr>
              <a:t>Information</a:t>
            </a:r>
            <a:r>
              <a:rPr sz="1150" b="1" i="0">
                <a:solidFill>
                  <a:srgbClr val="9E7008"/>
                </a:solidFill>
                <a:latin typeface="Calibri"/>
              </a:rPr>
              <a:t>  ·  1989</a:t>
            </a:r>
          </a:p>
        </p:txBody>
      </p:sp>
      <p:pic>
        <p:nvPicPr>
          <p:cNvPr id="19" name="Picture 18" descr="f_inf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8878" y="4937760"/>
            <a:ext cx="1291883" cy="868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834640" y="5888736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A6273"/>
                </a:solidFill>
                <a:latin typeface="Calibri"/>
              </a:rPr>
              <a:t>Consistency of outperformance versus benchmark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370832"/>
            <a:ext cx="3337560" cy="2121408"/>
          </a:xfrm>
          <a:prstGeom prst="roundRect">
            <a:avLst>
              <a:gd name="adj" fmla="val 5500"/>
            </a:avLst>
          </a:prstGeom>
          <a:solidFill>
            <a:srgbClr val="FB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5371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5224A"/>
                </a:solidFill>
                <a:latin typeface="Georgia"/>
              </a:rPr>
              <a:t>Calmar</a:t>
            </a:r>
            <a:r>
              <a:rPr sz="1150" b="1" i="0">
                <a:solidFill>
                  <a:srgbClr val="9E7008"/>
                </a:solidFill>
                <a:latin typeface="Calibri"/>
              </a:rPr>
              <a:t>  ·  1991</a:t>
            </a:r>
          </a:p>
        </p:txBody>
      </p:sp>
      <p:pic>
        <p:nvPicPr>
          <p:cNvPr id="23" name="Picture 22" descr="f_calm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298" y="4937760"/>
            <a:ext cx="1646802" cy="8686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46520" y="5888736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A6273"/>
                </a:solidFill>
                <a:latin typeface="Calibri"/>
              </a:rPr>
              <a:t>Annual return relative to maximum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27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8F8B"/>
                </a:solidFill>
                <a:latin typeface="Calibri"/>
              </a:rPr>
              <a:t>THE NEW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5224A"/>
                </a:solidFill>
                <a:latin typeface="Georgia"/>
              </a:rPr>
              <a:t>Score = diff × r ×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394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E3548"/>
                </a:solidFill>
                <a:latin typeface="Calibri"/>
              </a:rPr>
              <a:t>We fit an exponential model to the historical price — an OLS regression on log-price: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12848"/>
            <a:ext cx="5394960" cy="868680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431" y="2340864"/>
            <a:ext cx="1906016" cy="61264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3438144"/>
            <a:ext cx="566928" cy="566928"/>
          </a:xfrm>
          <a:prstGeom prst="ellipse">
            <a:avLst/>
          </a:prstGeom>
          <a:solidFill>
            <a:srgbClr val="0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1">
                <a:solidFill>
                  <a:srgbClr val="FFFFFF"/>
                </a:solidFill>
                <a:latin typeface="Georgia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38328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5224A"/>
                </a:solidFill>
                <a:latin typeface="Georgia"/>
              </a:rPr>
              <a:t>Fit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694176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A6273"/>
                </a:solidFill>
                <a:latin typeface="Calibri"/>
              </a:rPr>
              <a:t>Pearson correlation between log-price and time (|r| ≤ 1)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407407"/>
            <a:ext cx="566928" cy="566928"/>
          </a:xfrm>
          <a:prstGeom prst="ellipse">
            <a:avLst/>
          </a:prstGeom>
          <a:solidFill>
            <a:srgbClr val="0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1">
                <a:solidFill>
                  <a:srgbClr val="FFFFFF"/>
                </a:solidFill>
                <a:latin typeface="Georgi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35254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5224A"/>
                </a:solidFill>
                <a:latin typeface="Georgia"/>
              </a:rPr>
              <a:t>Growth slope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66344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A6273"/>
                </a:solidFill>
                <a:latin typeface="Calibri"/>
              </a:rPr>
              <a:t>Daily growth rate (log-growth rate)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376672"/>
            <a:ext cx="566928" cy="566928"/>
          </a:xfrm>
          <a:prstGeom prst="ellipse">
            <a:avLst/>
          </a:prstGeom>
          <a:solidFill>
            <a:srgbClr val="0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1">
                <a:solidFill>
                  <a:srgbClr val="FFFFFF"/>
                </a:solidFill>
                <a:latin typeface="Georgia"/>
              </a:rPr>
              <a:t>diff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532180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5224A"/>
                </a:solidFill>
                <a:latin typeface="Georgia"/>
              </a:rPr>
              <a:t>Price deviation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632704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A6273"/>
                </a:solidFill>
                <a:latin typeface="Calibri"/>
              </a:rPr>
              <a:t>ExpReg(last) − Price(last): signed distance from the trend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554480"/>
            <a:ext cx="4690872" cy="3310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66959"/>
            <a:ext cx="4233672" cy="2685169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75120" y="5074920"/>
            <a:ext cx="4690872" cy="1234440"/>
          </a:xfrm>
          <a:prstGeom prst="roundRect">
            <a:avLst>
              <a:gd name="adj" fmla="val 55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5285232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E3548"/>
                </a:solidFill>
                <a:latin typeface="Calibri"/>
              </a:rPr>
              <a:t>Price below the trend + positive trend → positive score → </a:t>
            </a:r>
            <a:r>
              <a:rPr sz="1300" b="1" i="0">
                <a:solidFill>
                  <a:srgbClr val="0B6E6B"/>
                </a:solidFill>
                <a:latin typeface="Calibri"/>
              </a:rPr>
              <a:t>predicted UP</a:t>
            </a:r>
            <a:r>
              <a:rPr sz="1300" b="0" i="0">
                <a:solidFill>
                  <a:srgbClr val="2E3548"/>
                </a:solidFill>
                <a:latin typeface="Calibri"/>
              </a:rPr>
              <a:t>  (mean reversion).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27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8F8B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5224A"/>
                </a:solidFill>
                <a:latin typeface="Georgia"/>
              </a:rPr>
              <a:t>Experiment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25420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5224A"/>
                </a:solidFill>
                <a:latin typeface="Georgia"/>
              </a:rP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2542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273"/>
                </a:solidFill>
                <a:latin typeface="Calibri"/>
              </a:rPr>
              <a:t>exchange-traded funds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83864" y="1645920"/>
            <a:ext cx="25420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5224A"/>
                </a:solidFill>
                <a:latin typeface="Georgia"/>
              </a:rPr>
              <a:t>180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3864" y="2331720"/>
            <a:ext cx="2542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273"/>
                </a:solidFill>
                <a:latin typeface="Calibri"/>
              </a:rPr>
              <a:t>configurations scanned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1645920"/>
            <a:ext cx="25420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5224A"/>
                </a:solidFill>
                <a:latin typeface="Georgia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2331720"/>
            <a:ext cx="2542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273"/>
                </a:solidFill>
                <a:latin typeface="Calibri"/>
              </a:rPr>
              <a:t>market regimes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5672" y="1645920"/>
            <a:ext cx="25420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5224A"/>
                </a:solidFill>
                <a:latin typeface="Georgia"/>
              </a:rPr>
              <a:t>5 ×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5672" y="2331720"/>
            <a:ext cx="2542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273"/>
                </a:solidFill>
                <a:latin typeface="Calibri"/>
              </a:rPr>
              <a:t>training × test windows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63240"/>
            <a:ext cx="3200400" cy="1600200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3310128"/>
            <a:ext cx="548640" cy="548640"/>
          </a:xfrm>
          <a:prstGeom prst="ellipse">
            <a:avLst/>
          </a:prstGeom>
          <a:solidFill>
            <a:srgbClr val="15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31012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5224A"/>
                </a:solidFill>
                <a:latin typeface="Georgia"/>
              </a:rPr>
              <a:t>Training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75887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A6273"/>
                </a:solidFill>
                <a:latin typeface="Calibri"/>
              </a:rPr>
              <a:t>Compute all 6 metrics on each of the 100 funds.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639312"/>
            <a:ext cx="475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E8F8B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4276" y="3063240"/>
            <a:ext cx="3200400" cy="1600200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22876" y="3310128"/>
            <a:ext cx="548640" cy="548640"/>
          </a:xfrm>
          <a:prstGeom prst="ellipse">
            <a:avLst/>
          </a:prstGeom>
          <a:solidFill>
            <a:srgbClr val="15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8676" y="331012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5224A"/>
                </a:solidFill>
                <a:latin typeface="Georgia"/>
              </a:rPr>
              <a:t>Test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8676" y="3675887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A6273"/>
                </a:solidFill>
                <a:latin typeface="Calibri"/>
              </a:rPr>
              <a:t>Observe direction and realize returns.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4675" y="3639312"/>
            <a:ext cx="475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E8F8B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3063240"/>
            <a:ext cx="3200400" cy="1600200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94192" y="3310128"/>
            <a:ext cx="548640" cy="548640"/>
          </a:xfrm>
          <a:prstGeom prst="ellipse">
            <a:avLst/>
          </a:prstGeom>
          <a:solidFill>
            <a:srgbClr val="15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331012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5224A"/>
                </a:solidFill>
                <a:latin typeface="Georgia"/>
              </a:rPr>
              <a:t>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3675887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A6273"/>
                </a:solidFill>
                <a:latin typeface="Calibri"/>
              </a:rPr>
              <a:t>Directional accuracy and long/short portfolio return.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29200"/>
            <a:ext cx="105430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2E3548"/>
                </a:solidFill>
                <a:latin typeface="Calibri"/>
              </a:rPr>
              <a:t>Each metric is converted into a directional forecast: </a:t>
            </a:r>
            <a:r>
              <a:rPr sz="1350" b="1" i="0">
                <a:solidFill>
                  <a:srgbClr val="15224A"/>
                </a:solidFill>
                <a:latin typeface="Calibri"/>
              </a:rPr>
              <a:t>a positive score predicts an increase, a negative score predicts a decrease</a:t>
            </a:r>
            <a:r>
              <a:rPr sz="1350" b="0" i="0">
                <a:solidFill>
                  <a:srgbClr val="2E3548"/>
                </a:solidFill>
                <a:latin typeface="Calibri"/>
              </a:rPr>
              <a:t>.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E3548"/>
                </a:solidFill>
                <a:latin typeface="Calibri"/>
              </a:rPr>
              <a:t>In addition, a dollar-neutral long/short portfolio is constructed — 10 assets on each side, weights proportional to |score|, with a strict cap on the short side.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27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8F8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5224A"/>
                </a:solidFill>
                <a:latin typeface="Georgia"/>
              </a:rPr>
              <a:t>A regime-dependent edge</a:t>
            </a:r>
          </a:p>
        </p:txBody>
      </p:sp>
      <p:pic>
        <p:nvPicPr>
          <p:cNvPr id="4" name="Picture 3" descr="reg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07949"/>
            <a:ext cx="6675120" cy="403082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43800" y="1783080"/>
            <a:ext cx="3840480" cy="1207008"/>
          </a:xfrm>
          <a:prstGeom prst="roundRect">
            <a:avLst>
              <a:gd name="adj" fmla="val 55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975104"/>
            <a:ext cx="3291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0B6E6B"/>
                </a:solidFill>
                <a:latin typeface="Georgia"/>
              </a:rPr>
              <a:t>The new metric wins</a:t>
            </a:r>
          </a:p>
          <a:p>
            <a:pPr algn="l"/>
            <a:r>
              <a:rPr sz="1250" b="0" i="0">
                <a:solidFill>
                  <a:srgbClr val="2E3548"/>
                </a:solidFill>
                <a:latin typeface="Calibri"/>
              </a:rPr>
              <a:t>Reversals and volatile markets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3172968"/>
            <a:ext cx="3840480" cy="1207008"/>
          </a:xfrm>
          <a:prstGeom prst="roundRect">
            <a:avLst>
              <a:gd name="adj" fmla="val 5500"/>
            </a:avLst>
          </a:prstGeom>
          <a:solidFill>
            <a:srgbClr val="FB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3364992"/>
            <a:ext cx="3291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9E7008"/>
                </a:solidFill>
                <a:latin typeface="Georgia"/>
              </a:rPr>
              <a:t>Classic ratios win</a:t>
            </a:r>
          </a:p>
          <a:p>
            <a:pPr algn="l"/>
            <a:r>
              <a:rPr sz="1250" b="0" i="0">
                <a:solidFill>
                  <a:srgbClr val="2E3548"/>
                </a:solidFill>
                <a:latin typeface="Calibri"/>
              </a:rPr>
              <a:t>Persistent trends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4562856"/>
            <a:ext cx="3840480" cy="1783080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754880"/>
            <a:ext cx="3291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5224A"/>
                </a:solidFill>
                <a:latin typeface="Georgia"/>
              </a:rPr>
              <a:t>Key takeaway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E3548"/>
                </a:solidFill>
                <a:latin typeface="Calibri"/>
              </a:rPr>
              <a:t>The pattern is not random — it is the signature of a mean-reversion signal versus a momentum signal.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27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8F8B"/>
                </a:solidFill>
                <a:latin typeface="Calibri"/>
              </a:rPr>
              <a:t>CASE STUDIES · THE NEW METRIC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5224A"/>
                </a:solidFill>
                <a:latin typeface="Georgia"/>
              </a:rPr>
              <a:t>When reversion pays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138928" cy="4434840"/>
          </a:xfrm>
          <a:prstGeom prst="roundRect">
            <a:avLst>
              <a:gd name="adj" fmla="val 55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938528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E8F8B"/>
                </a:solidFill>
                <a:latin typeface="Calibri"/>
              </a:rPr>
              <a:t>CASE A · COVID CRASH REBOUND (2020)</a:t>
            </a:r>
          </a:p>
        </p:txBody>
      </p:sp>
      <p:pic>
        <p:nvPicPr>
          <p:cNvPr id="6" name="Picture 5" descr="spark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877639"/>
            <a:ext cx="1234440" cy="5606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" y="251460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0B6E6B"/>
                </a:solidFill>
                <a:latin typeface="Georgia"/>
              </a:rPr>
              <a:t>96.9%</a:t>
            </a:r>
            <a:r>
              <a:rPr sz="1600" b="0" i="0">
                <a:solidFill>
                  <a:srgbClr val="5A6273"/>
                </a:solidFill>
                <a:latin typeface="Calibri"/>
              </a:rPr>
              <a:t>  vs  </a:t>
            </a:r>
            <a:r>
              <a:rPr sz="3800" b="1" i="0">
                <a:solidFill>
                  <a:srgbClr val="5A6273"/>
                </a:solidFill>
                <a:latin typeface="Georgia"/>
              </a:rPr>
              <a:t>9.2%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3101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273"/>
                </a:solidFill>
                <a:latin typeface="Calibri"/>
              </a:rPr>
              <a:t>directional accuracy — new metric vs classic ratios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703320"/>
            <a:ext cx="4572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E3548"/>
                </a:solidFill>
                <a:latin typeface="Calibri"/>
              </a:rPr>
              <a:t>The training window ended near the March 2020 bottom. Almost all ETFs sat below their exponential trend → large positive diff → predicted UP. The classic ratios, depressed by catastrophic returns, forecast continued decline.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50749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5224A"/>
                </a:solidFill>
                <a:latin typeface="Calibri"/>
              </a:rPr>
              <a:t>Long/short return:  </a:t>
            </a:r>
            <a:r>
              <a:rPr sz="1250" b="1" i="0">
                <a:solidFill>
                  <a:srgbClr val="0B6E6B"/>
                </a:solidFill>
                <a:latin typeface="Calibri"/>
              </a:rPr>
              <a:t>+10.9%</a:t>
            </a:r>
            <a:r>
              <a:rPr sz="1100" b="0" i="0">
                <a:solidFill>
                  <a:srgbClr val="5A6273"/>
                </a:solidFill>
                <a:latin typeface="Calibri"/>
              </a:rPr>
              <a:t>  vs  </a:t>
            </a:r>
            <a:r>
              <a:rPr sz="1250" b="1" i="0">
                <a:solidFill>
                  <a:srgbClr val="5A6273"/>
                </a:solidFill>
                <a:latin typeface="Calibri"/>
              </a:rPr>
              <a:t>−8.8%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691640"/>
            <a:ext cx="5138928" cy="4434840"/>
          </a:xfrm>
          <a:prstGeom prst="roundRect">
            <a:avLst>
              <a:gd name="adj" fmla="val 55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938528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E8F8B"/>
                </a:solidFill>
                <a:latin typeface="Calibri"/>
              </a:rPr>
              <a:t>CASE B · 2022 CHOPPY BEAR TAPE (Q4)</a:t>
            </a:r>
          </a:p>
        </p:txBody>
      </p:sp>
      <p:pic>
        <p:nvPicPr>
          <p:cNvPr id="13" name="Picture 12" descr="spark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3" y="1877639"/>
            <a:ext cx="1234440" cy="5606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19672" y="251460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0B6E6B"/>
                </a:solidFill>
                <a:latin typeface="Georgia"/>
              </a:rPr>
              <a:t>90.0%</a:t>
            </a:r>
            <a:r>
              <a:rPr sz="1600" b="0" i="0">
                <a:solidFill>
                  <a:srgbClr val="5A6273"/>
                </a:solidFill>
                <a:latin typeface="Calibri"/>
              </a:rPr>
              <a:t>  vs  </a:t>
            </a:r>
            <a:r>
              <a:rPr sz="3800" b="1" i="0">
                <a:solidFill>
                  <a:srgbClr val="5A6273"/>
                </a:solidFill>
                <a:latin typeface="Georgia"/>
              </a:rPr>
              <a:t>22.6%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3101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273"/>
                </a:solidFill>
                <a:latin typeface="Calibri"/>
              </a:rPr>
              <a:t>directional accuracy — new metric vs classic ratios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703320"/>
            <a:ext cx="4572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E3548"/>
                </a:solidFill>
                <a:latin typeface="Calibri"/>
              </a:rPr>
              <a:t>A market with no clear direction — mean-reverting. Extended names below trend snapped back; names above it faded. The advantage is not unique to a single crash.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50749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5224A"/>
                </a:solidFill>
                <a:latin typeface="Calibri"/>
              </a:rPr>
              <a:t>Long/short return:  </a:t>
            </a:r>
            <a:r>
              <a:rPr sz="1250" b="1" i="0">
                <a:solidFill>
                  <a:srgbClr val="0B6E6B"/>
                </a:solidFill>
                <a:latin typeface="Calibri"/>
              </a:rPr>
              <a:t>+8.1%</a:t>
            </a:r>
            <a:r>
              <a:rPr sz="1100" b="0" i="0">
                <a:solidFill>
                  <a:srgbClr val="5A6273"/>
                </a:solidFill>
                <a:latin typeface="Calibri"/>
              </a:rPr>
              <a:t>  vs  </a:t>
            </a:r>
            <a:r>
              <a:rPr sz="1250" b="1" i="0">
                <a:solidFill>
                  <a:srgbClr val="5A6273"/>
                </a:solidFill>
                <a:latin typeface="Calibri"/>
              </a:rPr>
              <a:t>+2.4%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27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9E7008"/>
                </a:solidFill>
                <a:latin typeface="Calibri"/>
              </a:rPr>
              <a:t>CASE STUDIES · THE CLASSIC RATIOS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5224A"/>
                </a:solidFill>
                <a:latin typeface="Georgia"/>
              </a:rPr>
              <a:t>When the trend persists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138928" cy="3886200"/>
          </a:xfrm>
          <a:prstGeom prst="roundRect">
            <a:avLst>
              <a:gd name="adj" fmla="val 5500"/>
            </a:avLst>
          </a:prstGeom>
          <a:solidFill>
            <a:srgbClr val="FB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938528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9E7008"/>
                </a:solidFill>
                <a:latin typeface="Calibri"/>
              </a:rPr>
              <a:t>CASE C · POST-COVID MOMENTUM RALLY</a:t>
            </a:r>
          </a:p>
        </p:txBody>
      </p:sp>
      <p:pic>
        <p:nvPicPr>
          <p:cNvPr id="6" name="Picture 5" descr="spark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877639"/>
            <a:ext cx="1234440" cy="5606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" y="251460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5A6273"/>
                </a:solidFill>
                <a:latin typeface="Georgia"/>
              </a:rPr>
              <a:t>2.0%</a:t>
            </a:r>
            <a:r>
              <a:rPr sz="1600" b="0" i="0">
                <a:solidFill>
                  <a:srgbClr val="5A6273"/>
                </a:solidFill>
                <a:latin typeface="Calibri"/>
              </a:rPr>
              <a:t>  vs  </a:t>
            </a:r>
            <a:r>
              <a:rPr sz="3800" b="1" i="0">
                <a:solidFill>
                  <a:srgbClr val="9E7008"/>
                </a:solidFill>
                <a:latin typeface="Georgia"/>
              </a:rPr>
              <a:t>93.9%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3101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273"/>
                </a:solidFill>
                <a:latin typeface="Calibri"/>
              </a:rPr>
              <a:t>directional accuracy — new metric vs classic ratios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703320"/>
            <a:ext cx="4572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E3548"/>
                </a:solidFill>
                <a:latin typeface="Calibri"/>
              </a:rPr>
              <a:t>End of 2020 — the market had risen for months. Most ETFs were above their trend → negative diff → predicted a pullback that never came. Momentum continued; the classic ratios were right in almost every case.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691640"/>
            <a:ext cx="5138928" cy="3886200"/>
          </a:xfrm>
          <a:prstGeom prst="roundRect">
            <a:avLst>
              <a:gd name="adj" fmla="val 5500"/>
            </a:avLst>
          </a:prstGeom>
          <a:solidFill>
            <a:srgbClr val="FB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938528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9E7008"/>
                </a:solidFill>
                <a:latin typeface="Calibri"/>
              </a:rPr>
              <a:t>CASE D · 2022 SUSTAINED DECLINE</a:t>
            </a:r>
          </a:p>
        </p:txBody>
      </p:sp>
      <p:pic>
        <p:nvPicPr>
          <p:cNvPr id="12" name="Picture 11" descr="spark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3" y="1877639"/>
            <a:ext cx="1234440" cy="56068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19672" y="251460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5A6273"/>
                </a:solidFill>
                <a:latin typeface="Georgia"/>
              </a:rPr>
              <a:t>8.1%</a:t>
            </a:r>
            <a:r>
              <a:rPr sz="1600" b="0" i="0">
                <a:solidFill>
                  <a:srgbClr val="5A6273"/>
                </a:solidFill>
                <a:latin typeface="Calibri"/>
              </a:rPr>
              <a:t>  vs  </a:t>
            </a:r>
            <a:r>
              <a:rPr sz="3800" b="1" i="0">
                <a:solidFill>
                  <a:srgbClr val="9E7008"/>
                </a:solidFill>
                <a:latin typeface="Georgia"/>
              </a:rPr>
              <a:t>79.0%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33101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273"/>
                </a:solidFill>
                <a:latin typeface="Calibri"/>
              </a:rPr>
              <a:t>directional accuracy — new metric vs classic ratios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703320"/>
            <a:ext cx="4572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E3548"/>
                </a:solidFill>
                <a:latin typeface="Calibri"/>
              </a:rPr>
              <a:t>A prolonged, directional decline. Names below trend kept falling — the mean-reversion signal “caught a falling knife.”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50749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5224A"/>
                </a:solidFill>
                <a:latin typeface="Calibri"/>
              </a:rPr>
              <a:t>Long/short return:  </a:t>
            </a:r>
            <a:r>
              <a:rPr sz="1250" b="1" i="0">
                <a:solidFill>
                  <a:srgbClr val="5A6273"/>
                </a:solidFill>
                <a:latin typeface="Calibri"/>
              </a:rPr>
              <a:t>−6.4%</a:t>
            </a:r>
            <a:r>
              <a:rPr sz="1100" b="0" i="0">
                <a:solidFill>
                  <a:srgbClr val="5A6273"/>
                </a:solidFill>
                <a:latin typeface="Calibri"/>
              </a:rPr>
              <a:t>  vs  </a:t>
            </a:r>
            <a:r>
              <a:rPr sz="1250" b="1" i="0">
                <a:solidFill>
                  <a:srgbClr val="9E7008"/>
                </a:solidFill>
                <a:latin typeface="Calibri"/>
              </a:rPr>
              <a:t>+7.8%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870448"/>
            <a:ext cx="10543032" cy="658368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605332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15224A"/>
                </a:solidFill>
                <a:latin typeface="Calibri"/>
              </a:rPr>
              <a:t>When the trend persists, mean-reversion forecasting is systematically wrong — the mirror image of Case 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27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8F8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5224A"/>
                </a:solidFill>
                <a:latin typeface="Georgia"/>
              </a:rPr>
              <a:t>Two complementary signal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38928" cy="2194560"/>
          </a:xfrm>
          <a:prstGeom prst="roundRect">
            <a:avLst>
              <a:gd name="adj" fmla="val 55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2057400"/>
            <a:ext cx="4572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B6E6B"/>
                </a:solidFill>
                <a:latin typeface="Georgia"/>
              </a:rPr>
              <a:t>The new metric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B6E6B"/>
                </a:solidFill>
                <a:latin typeface="Calibri"/>
              </a:rPr>
              <a:t>MEAN REVERSION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15224A"/>
                </a:solidFill>
                <a:latin typeface="Calibri"/>
              </a:rPr>
              <a:t>Signal   </a:t>
            </a:r>
            <a:r>
              <a:rPr sz="1300" b="0" i="0">
                <a:solidFill>
                  <a:srgbClr val="2E3548"/>
                </a:solidFill>
                <a:latin typeface="Calibri"/>
              </a:rPr>
              <a:t>positive when price sits below a stable trend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15224A"/>
                </a:solidFill>
                <a:latin typeface="Calibri"/>
              </a:rPr>
              <a:t>Predicts   </a:t>
            </a:r>
            <a:r>
              <a:rPr sz="1300" b="0" i="0">
                <a:solidFill>
                  <a:srgbClr val="2E3548"/>
                </a:solidFill>
                <a:latin typeface="Calibri"/>
              </a:rPr>
              <a:t>a return to the trend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15224A"/>
                </a:solidFill>
                <a:latin typeface="Calibri"/>
              </a:rPr>
              <a:t>Wins in   </a:t>
            </a:r>
            <a:r>
              <a:rPr sz="1300" b="0" i="0">
                <a:solidFill>
                  <a:srgbClr val="2E3548"/>
                </a:solidFill>
                <a:latin typeface="Calibri"/>
              </a:rPr>
              <a:t>reversals and volatile markets (Cases A, 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7064" y="1783080"/>
            <a:ext cx="5138928" cy="2194560"/>
          </a:xfrm>
          <a:prstGeom prst="roundRect">
            <a:avLst>
              <a:gd name="adj" fmla="val 5500"/>
            </a:avLst>
          </a:prstGeom>
          <a:solidFill>
            <a:srgbClr val="FB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9672" y="2057400"/>
            <a:ext cx="4572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9E7008"/>
                </a:solidFill>
                <a:latin typeface="Georgia"/>
              </a:rPr>
              <a:t>The classic ratios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9E7008"/>
                </a:solidFill>
                <a:latin typeface="Calibri"/>
              </a:rPr>
              <a:t>MOMENTUM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15224A"/>
                </a:solidFill>
                <a:latin typeface="Calibri"/>
              </a:rPr>
              <a:t>Signal   </a:t>
            </a:r>
            <a:r>
              <a:rPr sz="1300" b="0" i="0">
                <a:solidFill>
                  <a:srgbClr val="2E3548"/>
                </a:solidFill>
                <a:latin typeface="Calibri"/>
              </a:rPr>
              <a:t>large after strong risk-adjusted returns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15224A"/>
                </a:solidFill>
                <a:latin typeface="Calibri"/>
              </a:rPr>
              <a:t>Predicts   </a:t>
            </a:r>
            <a:r>
              <a:rPr sz="1300" b="0" i="0">
                <a:solidFill>
                  <a:srgbClr val="2E3548"/>
                </a:solidFill>
                <a:latin typeface="Calibri"/>
              </a:rPr>
              <a:t>continuation of the move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15224A"/>
                </a:solidFill>
                <a:latin typeface="Calibri"/>
              </a:rPr>
              <a:t>Wins in   </a:t>
            </a:r>
            <a:r>
              <a:rPr sz="1300" b="0" i="0">
                <a:solidFill>
                  <a:srgbClr val="2E3548"/>
                </a:solidFill>
                <a:latin typeface="Calibri"/>
              </a:rPr>
              <a:t>sustained trends (Cases C, 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434840"/>
            <a:ext cx="10543032" cy="1600200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4690872"/>
            <a:ext cx="9966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300" b="0" i="0">
                <a:solidFill>
                  <a:srgbClr val="2E3548"/>
                </a:solidFill>
                <a:latin typeface="Calibri"/>
              </a:rPr>
              <a:t>The literature (Jegadeesh &amp; Titman, 1993; Daniel &amp; Moskowitz, 2016) documents “momentum crashes” at reversals — Case A is a textbook example.</a:t>
            </a:r>
          </a:p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15224A"/>
                </a:solidFill>
                <a:latin typeface="Calibri"/>
              </a:rPr>
              <a:t>Takeaway: </a:t>
            </a:r>
            <a:r>
              <a:rPr sz="1300" b="1" i="0">
                <a:solidFill>
                  <a:srgbClr val="15224A"/>
                </a:solidFill>
                <a:latin typeface="Calibri"/>
              </a:rPr>
              <a:t>a regime-aware combination — switching between the two signal types according to volatility, trend strength, or the size of diff — is expected to outperform either family on its 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27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D1CC"/>
                </a:solidFill>
                <a:latin typeface="Calibri"/>
              </a:rPr>
              <a:t>CONCLUSIONS  · 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Complementary, not competing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475488" cy="475488"/>
          </a:xfrm>
          <a:prstGeom prst="ellipse">
            <a:avLst/>
          </a:prstGeom>
          <a:solidFill>
            <a:srgbClr val="0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847088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diff × r × b is a mean-reversion signal</a:t>
            </a:r>
            <a:r>
              <a:rPr sz="1350" b="0" i="0">
                <a:solidFill>
                  <a:srgbClr val="C9D6F0"/>
                </a:solidFill>
                <a:latin typeface="Calibri"/>
              </a:rPr>
              <a:t> — not a replacement for the classic ratios.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907791"/>
            <a:ext cx="475488" cy="475488"/>
          </a:xfrm>
          <a:prstGeom prst="ellipse">
            <a:avLst/>
          </a:prstGeom>
          <a:solidFill>
            <a:srgbClr val="0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926079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The classic ratios behave as momentum signals</a:t>
            </a:r>
            <a:r>
              <a:rPr sz="1350" b="0" i="0">
                <a:solidFill>
                  <a:srgbClr val="C9D6F0"/>
                </a:solidFill>
                <a:latin typeface="Calibri"/>
              </a:rPr>
              <a:t> — direct empirical evidence.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986783"/>
            <a:ext cx="475488" cy="475488"/>
          </a:xfrm>
          <a:prstGeom prst="ellipse">
            <a:avLst/>
          </a:prstGeom>
          <a:solidFill>
            <a:srgbClr val="0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005071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The two families are complementary</a:t>
            </a:r>
            <a:r>
              <a:rPr sz="1350" b="0" i="0">
                <a:solidFill>
                  <a:srgbClr val="C9D6F0"/>
                </a:solidFill>
                <a:latin typeface="Calibri"/>
              </a:rPr>
              <a:t> — each wins where the other fails.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5065775"/>
            <a:ext cx="475488" cy="475488"/>
          </a:xfrm>
          <a:prstGeom prst="ellipse">
            <a:avLst/>
          </a:prstGeom>
          <a:solidFill>
            <a:srgbClr val="0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5084063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Regime-based combination</a:t>
            </a:r>
            <a:r>
              <a:rPr sz="1350" b="0" i="0">
                <a:solidFill>
                  <a:srgbClr val="C9D6F0"/>
                </a:solidFill>
                <a:latin typeface="Calibri"/>
              </a:rPr>
              <a:t> outperforms any single metric on its 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828800"/>
            <a:ext cx="4480560" cy="4160520"/>
          </a:xfrm>
          <a:prstGeom prst="roundRect">
            <a:avLst>
              <a:gd name="adj" fmla="val 4500"/>
            </a:avLst>
          </a:prstGeom>
          <a:solidFill>
            <a:srgbClr val="1B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121408"/>
            <a:ext cx="374903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4FD1CC"/>
                </a:solidFill>
                <a:latin typeface="Calibri"/>
              </a:rPr>
              <a:t>NEXT STEP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Walk-forward backtest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C9D6F0"/>
                </a:solidFill>
                <a:latin typeface="Calibri"/>
              </a:rPr>
              <a:t>So far we tested each period separately, like snapshots. The next step is to run the test the way a real investor would: move forward one day at a time, recalculate the metrics, and update the portfolio as we go. This gives one continuous performance line over the years.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C9D6F0"/>
                </a:solidFill>
                <a:latin typeface="Calibri"/>
              </a:rPr>
              <a:t>It will show two things: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 i="0">
                <a:solidFill>
                  <a:srgbClr val="4FD1CC"/>
                </a:solidFill>
                <a:latin typeface="Calibri"/>
              </a:rPr>
              <a:t>·  </a:t>
            </a:r>
            <a:r>
              <a:rPr sz="1250" b="0" i="0">
                <a:solidFill>
                  <a:srgbClr val="C9D6F0"/>
                </a:solidFill>
                <a:latin typeface="Calibri"/>
              </a:rPr>
              <a:t>does our edge survive real, ongoing trading</a:t>
            </a:r>
          </a:p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4FD1CC"/>
                </a:solidFill>
                <a:latin typeface="Calibri"/>
              </a:rPr>
              <a:t>·  </a:t>
            </a:r>
            <a:r>
              <a:rPr sz="1250" b="0" i="0">
                <a:solidFill>
                  <a:srgbClr val="C9D6F0"/>
                </a:solidFill>
                <a:latin typeface="Calibri"/>
              </a:rPr>
              <a:t>does the profit hold up after trading 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9D6F0"/>
                </a:solidFill>
                <a:latin typeface="Calibri"/>
              </a:rPr>
              <a:t>Nehoray Sade · Aviv Asraf   |   Supervised by Dr. Dvir Ross   |   Sami Shamoon College of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