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3"/>
  </p:notesMasterIdLst>
  <p:sldIdLst>
    <p:sldId id="259" r:id="rId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648"/>
    <a:srgbClr val="0FC58F"/>
    <a:srgbClr val="1EFF9B"/>
    <a:srgbClr val="1931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762"/>
  </p:normalViewPr>
  <p:slideViewPr>
    <p:cSldViewPr snapToGrid="0">
      <p:cViewPr>
        <p:scale>
          <a:sx n="150" d="100"/>
          <a:sy n="150" d="100"/>
        </p:scale>
        <p:origin x="24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E12938FC-9E3D-4619-963D-0408FCC077A5}" type="datetimeFigureOut">
              <a:rPr lang="he-IL" smtClean="0"/>
              <a:t>ל'/סיון/תשפ"ו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DB512723-71F7-45C7-943B-9104755341A2}" type="slidenum">
              <a:rPr lang="he-IL" smtClean="0"/>
              <a:t>‹#›</a:t>
            </a:fld>
            <a:endParaRPr lang="he-IL"/>
          </a:p>
        </p:txBody>
      </p:sp>
    </p:spTree>
    <p:extLst>
      <p:ext uri="{BB962C8B-B14F-4D97-AF65-F5344CB8AC3E}">
        <p14:creationId xmlns:p14="http://schemas.microsoft.com/office/powerpoint/2010/main" val="104854424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B512723-71F7-45C7-943B-9104755341A2}" type="slidenum">
              <a:rPr lang="he-IL" smtClean="0"/>
              <a:t>1</a:t>
            </a:fld>
            <a:endParaRPr lang="he-IL"/>
          </a:p>
        </p:txBody>
      </p:sp>
    </p:spTree>
    <p:extLst>
      <p:ext uri="{BB962C8B-B14F-4D97-AF65-F5344CB8AC3E}">
        <p14:creationId xmlns:p14="http://schemas.microsoft.com/office/powerpoint/2010/main" val="35749637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
        <p:nvSpPr>
          <p:cNvPr id="4" name="מציין מיקום של תאריך 3"/>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A198DE1-69FB-4315-9745-A4B618478C68}" type="slidenum">
              <a:rPr lang="he-IL" smtClean="0"/>
              <a:t>‹#›</a:t>
            </a:fld>
            <a:endParaRPr lang="he-IL"/>
          </a:p>
        </p:txBody>
      </p:sp>
      <p:pic>
        <p:nvPicPr>
          <p:cNvPr id="2" name="Picture 1" descr="A screenshot of a computer&#10;&#10;Description automatically generated">
            <a:extLst>
              <a:ext uri="{FF2B5EF4-FFF2-40B4-BE49-F238E27FC236}">
                <a16:creationId xmlns:a16="http://schemas.microsoft.com/office/drawing/2014/main" id="{E0125DC4-E38E-E085-A46C-945EFBE805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936323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3963988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37923502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3090602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1081620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2808116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13748055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2298504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1606511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35103884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FC6D5FDC-B713-417B-B2A3-CC6E49E5DAA4}" type="datetimeFigureOut">
              <a:rPr lang="he-IL" smtClean="0"/>
              <a:t>ל'/סיון/תשפ"ו</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AA198DE1-69FB-4315-9745-A4B618478C68}" type="slidenum">
              <a:rPr lang="he-IL" smtClean="0"/>
              <a:t>‹#›</a:t>
            </a:fld>
            <a:endParaRPr lang="he-IL"/>
          </a:p>
        </p:txBody>
      </p:sp>
    </p:spTree>
    <p:extLst>
      <p:ext uri="{BB962C8B-B14F-4D97-AF65-F5344CB8AC3E}">
        <p14:creationId xmlns:p14="http://schemas.microsoft.com/office/powerpoint/2010/main" val="1116706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FC6D5FDC-B713-417B-B2A3-CC6E49E5DAA4}" type="datetimeFigureOut">
              <a:rPr lang="he-IL" smtClean="0"/>
              <a:t>ל'/סיון/תשפ"ו</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AA198DE1-69FB-4315-9745-A4B618478C68}" type="slidenum">
              <a:rPr lang="he-IL" smtClean="0"/>
              <a:t>‹#›</a:t>
            </a:fld>
            <a:endParaRPr lang="he-IL"/>
          </a:p>
        </p:txBody>
      </p:sp>
    </p:spTree>
    <p:extLst>
      <p:ext uri="{BB962C8B-B14F-4D97-AF65-F5344CB8AC3E}">
        <p14:creationId xmlns:p14="http://schemas.microsoft.com/office/powerpoint/2010/main" val="887020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C45A123-3F18-5162-A9EC-303075D4C307}"/>
              </a:ext>
            </a:extLst>
          </p:cNvPr>
          <p:cNvSpPr txBox="1"/>
          <p:nvPr/>
        </p:nvSpPr>
        <p:spPr>
          <a:xfrm>
            <a:off x="3547406" y="314560"/>
            <a:ext cx="3364345" cy="1046440"/>
          </a:xfrm>
          <a:prstGeom prst="rect">
            <a:avLst/>
          </a:prstGeom>
          <a:noFill/>
        </p:spPr>
        <p:txBody>
          <a:bodyPr wrap="square" rtlCol="0">
            <a:spAutoFit/>
          </a:bodyPr>
          <a:lstStyle/>
          <a:p>
            <a:r>
              <a:rPr lang="en-US" sz="2000" b="1" dirty="0">
                <a:solidFill>
                  <a:srgbClr val="0FC58F"/>
                </a:solidFill>
                <a:latin typeface="Assistant" pitchFamily="2" charset="-79"/>
                <a:cs typeface="Assistant" pitchFamily="2" charset="-79"/>
              </a:rPr>
              <a:t>	Computer Sciences</a:t>
            </a:r>
            <a:endParaRPr lang="he-IL" sz="2000" b="1" dirty="0">
              <a:solidFill>
                <a:srgbClr val="0FC58F"/>
              </a:solidFill>
              <a:latin typeface="Assistant" pitchFamily="2" charset="-79"/>
              <a:cs typeface="Assistant" pitchFamily="2" charset="-79"/>
            </a:endParaRPr>
          </a:p>
          <a:p>
            <a:pPr algn="l" rtl="0"/>
            <a:r>
              <a:rPr lang="en-US" sz="1400" b="1" dirty="0">
                <a:solidFill>
                  <a:srgbClr val="19315C"/>
                </a:solidFill>
                <a:latin typeface="Assistant" pitchFamily="2" charset="-79"/>
              </a:rPr>
              <a:t>    Screen number:</a:t>
            </a:r>
            <a:r>
              <a:rPr sz="1400" dirty="0">
                <a:solidFill>
                  <a:srgbClr val="7A828C"/>
                </a:solidFill>
                <a:latin typeface="Assistant"/>
              </a:rPr>
              <a:t>  </a:t>
            </a:r>
            <a:r>
              <a:rPr lang="he-IL" sz="1400" dirty="0">
                <a:solidFill>
                  <a:srgbClr val="7A828C"/>
                </a:solidFill>
                <a:latin typeface="Assistant"/>
              </a:rPr>
              <a:t>2</a:t>
            </a:r>
          </a:p>
          <a:p>
            <a:pPr algn="l" rtl="0"/>
            <a:r>
              <a:rPr lang="en-US" sz="1400" b="1" dirty="0">
                <a:solidFill>
                  <a:srgbClr val="19315C"/>
                </a:solidFill>
                <a:latin typeface="Assistant" pitchFamily="2" charset="-79"/>
              </a:rPr>
              <a:t>    Students:</a:t>
            </a:r>
            <a:r>
              <a:rPr sz="1400" dirty="0">
                <a:solidFill>
                  <a:srgbClr val="3A3F47"/>
                </a:solidFill>
                <a:latin typeface="Assistant"/>
              </a:rPr>
              <a:t>  Nehoray Sade  &amp;  Aviv Asraf</a:t>
            </a:r>
          </a:p>
          <a:p>
            <a:pPr algn="l" rtl="0"/>
            <a:r>
              <a:rPr lang="en-US" sz="1400" b="1" dirty="0">
                <a:solidFill>
                  <a:srgbClr val="19315C"/>
                </a:solidFill>
                <a:latin typeface="Assistant" pitchFamily="2" charset="-79"/>
              </a:rPr>
              <a:t>    Advisor:</a:t>
            </a:r>
            <a:r>
              <a:rPr sz="1400" dirty="0">
                <a:solidFill>
                  <a:srgbClr val="3A3F47"/>
                </a:solidFill>
                <a:latin typeface="Assistant"/>
              </a:rPr>
              <a:t>  Dr. Dvir Ro</a:t>
            </a:r>
            <a:r>
              <a:rPr lang="en-US" sz="1400" dirty="0">
                <a:solidFill>
                  <a:srgbClr val="3A3F47"/>
                </a:solidFill>
                <a:latin typeface="Assistant"/>
              </a:rPr>
              <a:t>s</a:t>
            </a:r>
            <a:r>
              <a:rPr sz="1400" dirty="0">
                <a:solidFill>
                  <a:srgbClr val="3A3F47"/>
                </a:solidFill>
                <a:latin typeface="Assistant"/>
              </a:rPr>
              <a:t>s</a:t>
            </a:r>
          </a:p>
        </p:txBody>
      </p:sp>
      <p:cxnSp>
        <p:nvCxnSpPr>
          <p:cNvPr id="5" name="Straight Connector 4">
            <a:extLst>
              <a:ext uri="{FF2B5EF4-FFF2-40B4-BE49-F238E27FC236}">
                <a16:creationId xmlns:a16="http://schemas.microsoft.com/office/drawing/2014/main" id="{3BD291EA-2F93-1408-F9C6-F2D7F418502A}"/>
              </a:ext>
            </a:extLst>
          </p:cNvPr>
          <p:cNvCxnSpPr/>
          <p:nvPr/>
        </p:nvCxnSpPr>
        <p:spPr>
          <a:xfrm flipH="1">
            <a:off x="3905685" y="326388"/>
            <a:ext cx="787400" cy="0"/>
          </a:xfrm>
          <a:prstGeom prst="line">
            <a:avLst/>
          </a:prstGeom>
          <a:ln w="19050">
            <a:solidFill>
              <a:srgbClr val="0FC58F"/>
            </a:solidFill>
          </a:ln>
        </p:spPr>
        <p:style>
          <a:lnRef idx="1">
            <a:schemeClr val="accent1"/>
          </a:lnRef>
          <a:fillRef idx="0">
            <a:schemeClr val="accent1"/>
          </a:fillRef>
          <a:effectRef idx="0">
            <a:schemeClr val="accent1"/>
          </a:effectRef>
          <a:fontRef idx="minor">
            <a:schemeClr val="tx1"/>
          </a:fontRef>
        </p:style>
      </p:cxnSp>
      <p:cxnSp>
        <p:nvCxnSpPr>
          <p:cNvPr id="2" name="מחבר ישר 1">
            <a:extLst>
              <a:ext uri="{FF2B5EF4-FFF2-40B4-BE49-F238E27FC236}">
                <a16:creationId xmlns:a16="http://schemas.microsoft.com/office/drawing/2014/main" id="{54158EF9-43B0-8DF1-B004-25A792C0B9D7}"/>
              </a:ext>
            </a:extLst>
          </p:cNvPr>
          <p:cNvCxnSpPr/>
          <p:nvPr/>
        </p:nvCxnSpPr>
        <p:spPr>
          <a:xfrm flipV="1">
            <a:off x="0" y="1445076"/>
            <a:ext cx="12192000" cy="9236"/>
          </a:xfrm>
          <a:prstGeom prst="line">
            <a:avLst/>
          </a:prstGeom>
          <a:ln w="57150">
            <a:solidFill>
              <a:srgbClr val="00CAC6"/>
            </a:solidFill>
          </a:ln>
        </p:spPr>
        <p:style>
          <a:lnRef idx="1">
            <a:schemeClr val="accent1"/>
          </a:lnRef>
          <a:fillRef idx="0">
            <a:schemeClr val="accent1"/>
          </a:fillRef>
          <a:effectRef idx="0">
            <a:schemeClr val="accent1"/>
          </a:effectRef>
          <a:fontRef idx="minor">
            <a:schemeClr val="tx1"/>
          </a:fontRef>
        </p:style>
      </p:cxnSp>
      <p:sp>
        <p:nvSpPr>
          <p:cNvPr id="13" name="Rectangle 12"/>
          <p:cNvSpPr>
            <a:spLocks noGrp="1" noRot="1" noMove="1" noResize="1" noEditPoints="1" noAdjustHandles="1" noChangeArrowheads="1" noChangeShapeType="1"/>
          </p:cNvSpPr>
          <p:nvPr/>
        </p:nvSpPr>
        <p:spPr>
          <a:xfrm>
            <a:off x="0" y="1454000"/>
            <a:ext cx="12192000" cy="5404000"/>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4666" y="263000"/>
            <a:ext cx="1700000" cy="1080000"/>
          </a:xfrm>
          <a:prstGeom prst="rect">
            <a:avLst/>
          </a:prstGeom>
          <a:noFill/>
        </p:spPr>
        <p:txBody>
          <a:bodyPr wrap="square" lIns="60000" tIns="30000" rIns="60000" bIns="30000" anchor="ctr">
            <a:spAutoFit/>
          </a:bodyPr>
          <a:lstStyle/>
          <a:p>
            <a:pPr algn="ctr" rtl="0">
              <a:lnSpc>
                <a:spcPct val="98000"/>
              </a:lnSpc>
            </a:pPr>
            <a:r>
              <a:rPr sz="1250" b="1" i="0" dirty="0">
                <a:solidFill>
                  <a:srgbClr val="19315C"/>
                </a:solidFill>
                <a:latin typeface="Segoe UI Semibold"/>
              </a:rPr>
              <a:t>Data-Driven</a:t>
            </a:r>
          </a:p>
          <a:p>
            <a:pPr algn="ctr" rtl="0">
              <a:lnSpc>
                <a:spcPct val="98000"/>
              </a:lnSpc>
            </a:pPr>
            <a:r>
              <a:rPr sz="1250" b="1" i="0" dirty="0">
                <a:solidFill>
                  <a:srgbClr val="19315C"/>
                </a:solidFill>
                <a:latin typeface="Segoe UI Semibold"/>
              </a:rPr>
              <a:t>Risk-Adjusted</a:t>
            </a:r>
          </a:p>
          <a:p>
            <a:pPr algn="ctr" rtl="0">
              <a:lnSpc>
                <a:spcPct val="98000"/>
              </a:lnSpc>
            </a:pPr>
            <a:r>
              <a:rPr sz="1250" b="1" i="0" dirty="0">
                <a:solidFill>
                  <a:srgbClr val="19315C"/>
                </a:solidFill>
                <a:latin typeface="Segoe UI Semibold"/>
              </a:rPr>
              <a:t>Performance Analysis</a:t>
            </a:r>
          </a:p>
        </p:txBody>
      </p:sp>
      <p:sp>
        <p:nvSpPr>
          <p:cNvPr id="15" name="Rounded Rectangle 14"/>
          <p:cNvSpPr/>
          <p:nvPr/>
        </p:nvSpPr>
        <p:spPr>
          <a:xfrm>
            <a:off x="320000" y="1529999"/>
            <a:ext cx="3707333" cy="2500307"/>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70000" y="1625000"/>
            <a:ext cx="300000" cy="300000"/>
          </a:xfrm>
          <a:prstGeom prst="roundRect">
            <a:avLst>
              <a:gd name="adj" fmla="val 22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0000" y="1613000"/>
            <a:ext cx="300000" cy="310000"/>
          </a:xfrm>
          <a:prstGeom prst="rect">
            <a:avLst/>
          </a:prstGeom>
          <a:noFill/>
        </p:spPr>
        <p:txBody>
          <a:bodyPr wrap="square" lIns="60000" tIns="30000" rIns="60000" bIns="30000" anchor="ctr">
            <a:spAutoFit/>
          </a:bodyPr>
          <a:lstStyle/>
          <a:p>
            <a:pPr algn="ctr" rtl="0"/>
            <a:r>
              <a:rPr sz="1500" b="1" i="0">
                <a:solidFill>
                  <a:srgbClr val="FFFFFF"/>
                </a:solidFill>
                <a:latin typeface="Segoe UI Semibold"/>
              </a:rPr>
              <a:t>1</a:t>
            </a:r>
          </a:p>
        </p:txBody>
      </p:sp>
      <p:sp>
        <p:nvSpPr>
          <p:cNvPr id="18" name="TextBox 17"/>
          <p:cNvSpPr txBox="1"/>
          <p:nvPr/>
        </p:nvSpPr>
        <p:spPr>
          <a:xfrm>
            <a:off x="850000" y="1605000"/>
            <a:ext cx="2607333" cy="340000"/>
          </a:xfrm>
          <a:prstGeom prst="rect">
            <a:avLst/>
          </a:prstGeom>
          <a:noFill/>
        </p:spPr>
        <p:txBody>
          <a:bodyPr wrap="square" lIns="60000" tIns="30000" rIns="60000" bIns="30000" anchor="ctr">
            <a:spAutoFit/>
          </a:bodyPr>
          <a:lstStyle/>
          <a:p>
            <a:pPr algn="l" rtl="0"/>
            <a:r>
              <a:rPr sz="1400" b="1" i="0">
                <a:solidFill>
                  <a:srgbClr val="19315C"/>
                </a:solidFill>
                <a:latin typeface="Segoe UI Semibold"/>
              </a:rPr>
              <a:t>Introduction</a:t>
            </a:r>
          </a:p>
        </p:txBody>
      </p:sp>
      <p:sp>
        <p:nvSpPr>
          <p:cNvPr id="20" name="Rectangle 19"/>
          <p:cNvSpPr/>
          <p:nvPr/>
        </p:nvSpPr>
        <p:spPr>
          <a:xfrm>
            <a:off x="470000" y="1967000"/>
            <a:ext cx="3407333" cy="10000"/>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0000" y="2025000"/>
            <a:ext cx="3467333" cy="1844279"/>
          </a:xfrm>
          <a:prstGeom prst="rect">
            <a:avLst/>
          </a:prstGeom>
          <a:noFill/>
        </p:spPr>
        <p:txBody>
          <a:bodyPr wrap="square" lIns="60000" tIns="30000" rIns="60000" bIns="30000" anchor="t">
            <a:spAutoFit/>
          </a:bodyPr>
          <a:lstStyle/>
          <a:p>
            <a:pPr algn="l" rtl="0">
              <a:lnSpc>
                <a:spcPct val="104000"/>
              </a:lnSpc>
              <a:spcAft>
                <a:spcPts val="300"/>
              </a:spcAft>
            </a:pPr>
            <a:r>
              <a:rPr lang="en-US" sz="1400" dirty="0"/>
              <a:t>This project studies five classical risk-adjusted ratios and proposes a complementary structural metric, diff × r × b, based on exponential regression of asset prices. The goal is to examine whether this new metric captures information that the classical ratios miss, and to identify the market conditions in which each approach performs better.</a:t>
            </a:r>
            <a:endParaRPr sz="1400" b="1" i="0" dirty="0">
              <a:solidFill>
                <a:srgbClr val="19315C"/>
              </a:solidFill>
              <a:latin typeface="Calibri"/>
            </a:endParaRPr>
          </a:p>
        </p:txBody>
      </p:sp>
      <p:grpSp>
        <p:nvGrpSpPr>
          <p:cNvPr id="7" name="Group 6">
            <a:extLst>
              <a:ext uri="{FF2B5EF4-FFF2-40B4-BE49-F238E27FC236}">
                <a16:creationId xmlns:a16="http://schemas.microsoft.com/office/drawing/2014/main" id="{E2E43EE0-63DD-AC01-9F12-5B12527200CD}"/>
              </a:ext>
            </a:extLst>
          </p:cNvPr>
          <p:cNvGrpSpPr/>
          <p:nvPr/>
        </p:nvGrpSpPr>
        <p:grpSpPr>
          <a:xfrm>
            <a:off x="270000" y="4199305"/>
            <a:ext cx="3707333" cy="2522664"/>
            <a:chOff x="267500" y="4268966"/>
            <a:chExt cx="3707333" cy="2522664"/>
          </a:xfrm>
        </p:grpSpPr>
        <p:sp>
          <p:nvSpPr>
            <p:cNvPr id="22" name="Rounded Rectangle 21"/>
            <p:cNvSpPr/>
            <p:nvPr/>
          </p:nvSpPr>
          <p:spPr>
            <a:xfrm>
              <a:off x="267500" y="4268966"/>
              <a:ext cx="3707333" cy="2522664"/>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 name="Group 5">
              <a:extLst>
                <a:ext uri="{FF2B5EF4-FFF2-40B4-BE49-F238E27FC236}">
                  <a16:creationId xmlns:a16="http://schemas.microsoft.com/office/drawing/2014/main" id="{642A6312-724A-9ED1-0EFB-3B7E6B9CC07E}"/>
                </a:ext>
              </a:extLst>
            </p:cNvPr>
            <p:cNvGrpSpPr/>
            <p:nvPr/>
          </p:nvGrpSpPr>
          <p:grpSpPr>
            <a:xfrm>
              <a:off x="417500" y="4341369"/>
              <a:ext cx="300000" cy="310598"/>
              <a:chOff x="417500" y="4341369"/>
              <a:chExt cx="300000" cy="310598"/>
            </a:xfrm>
          </p:grpSpPr>
          <p:sp>
            <p:nvSpPr>
              <p:cNvPr id="23" name="Rounded Rectangle 22"/>
              <p:cNvSpPr/>
              <p:nvPr/>
            </p:nvSpPr>
            <p:spPr>
              <a:xfrm>
                <a:off x="417500" y="4351967"/>
                <a:ext cx="300000" cy="300000"/>
              </a:xfrm>
              <a:prstGeom prst="roundRect">
                <a:avLst>
                  <a:gd name="adj" fmla="val 22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17500" y="4341369"/>
                <a:ext cx="300000" cy="310000"/>
              </a:xfrm>
              <a:prstGeom prst="rect">
                <a:avLst/>
              </a:prstGeom>
              <a:noFill/>
            </p:spPr>
            <p:txBody>
              <a:bodyPr wrap="square" lIns="60000" tIns="30000" rIns="60000" bIns="30000" anchor="ctr">
                <a:spAutoFit/>
              </a:bodyPr>
              <a:lstStyle/>
              <a:p>
                <a:pPr algn="ctr" rtl="0"/>
                <a:r>
                  <a:rPr sz="1500" b="1" i="0" dirty="0">
                    <a:solidFill>
                      <a:srgbClr val="FFFFFF"/>
                    </a:solidFill>
                    <a:latin typeface="Segoe UI Semibold"/>
                  </a:rPr>
                  <a:t>2</a:t>
                </a:r>
              </a:p>
            </p:txBody>
          </p:sp>
        </p:grpSp>
        <p:sp>
          <p:nvSpPr>
            <p:cNvPr id="25" name="TextBox 24"/>
            <p:cNvSpPr txBox="1"/>
            <p:nvPr/>
          </p:nvSpPr>
          <p:spPr>
            <a:xfrm>
              <a:off x="797500" y="4343967"/>
              <a:ext cx="2607333" cy="340000"/>
            </a:xfrm>
            <a:prstGeom prst="rect">
              <a:avLst/>
            </a:prstGeom>
            <a:noFill/>
          </p:spPr>
          <p:txBody>
            <a:bodyPr wrap="square" lIns="60000" tIns="30000" rIns="60000" bIns="30000" anchor="ctr">
              <a:spAutoFit/>
            </a:bodyPr>
            <a:lstStyle/>
            <a:p>
              <a:pPr algn="l" rtl="0"/>
              <a:r>
                <a:rPr sz="1400" b="1" i="0">
                  <a:solidFill>
                    <a:srgbClr val="19315C"/>
                  </a:solidFill>
                  <a:latin typeface="Segoe UI Semibold"/>
                </a:rPr>
                <a:t>The Ratios &amp; New Score</a:t>
              </a:r>
            </a:p>
          </p:txBody>
        </p:sp>
        <p:sp>
          <p:nvSpPr>
            <p:cNvPr id="27" name="Rectangle 26"/>
            <p:cNvSpPr/>
            <p:nvPr/>
          </p:nvSpPr>
          <p:spPr>
            <a:xfrm>
              <a:off x="417500" y="4705967"/>
              <a:ext cx="3407333" cy="10000"/>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17500" y="4791967"/>
              <a:ext cx="140000" cy="140000"/>
            </a:xfrm>
            <a:prstGeom prst="roundRect">
              <a:avLst>
                <a:gd name="adj" fmla="val 50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22500" y="4745967"/>
              <a:ext cx="3202333" cy="300000"/>
            </a:xfrm>
            <a:prstGeom prst="rect">
              <a:avLst/>
            </a:prstGeom>
            <a:noFill/>
          </p:spPr>
          <p:txBody>
            <a:bodyPr wrap="square" lIns="60000" tIns="30000" rIns="60000" bIns="30000" anchor="ctr">
              <a:spAutoFit/>
            </a:bodyPr>
            <a:lstStyle/>
            <a:p>
              <a:pPr algn="l" rtl="0"/>
              <a:r>
                <a:rPr sz="1050" b="1" i="0">
                  <a:solidFill>
                    <a:srgbClr val="19315C"/>
                  </a:solidFill>
                  <a:latin typeface="Calibri"/>
                </a:rPr>
                <a:t>Sharpe  </a:t>
              </a:r>
              <a:r>
                <a:rPr sz="950" b="0" i="0">
                  <a:solidFill>
                    <a:srgbClr val="7A828C"/>
                  </a:solidFill>
                  <a:latin typeface="Calibri"/>
                </a:rPr>
                <a:t>excess return / total volatility</a:t>
              </a:r>
            </a:p>
          </p:txBody>
        </p:sp>
        <p:sp>
          <p:nvSpPr>
            <p:cNvPr id="30" name="Rounded Rectangle 29"/>
            <p:cNvSpPr/>
            <p:nvPr/>
          </p:nvSpPr>
          <p:spPr>
            <a:xfrm>
              <a:off x="417500" y="5043967"/>
              <a:ext cx="140000" cy="140000"/>
            </a:xfrm>
            <a:prstGeom prst="roundRect">
              <a:avLst>
                <a:gd name="adj" fmla="val 50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22500" y="4997967"/>
              <a:ext cx="3202333" cy="300000"/>
            </a:xfrm>
            <a:prstGeom prst="rect">
              <a:avLst/>
            </a:prstGeom>
            <a:noFill/>
          </p:spPr>
          <p:txBody>
            <a:bodyPr wrap="square" lIns="60000" tIns="30000" rIns="60000" bIns="30000" anchor="ctr">
              <a:spAutoFit/>
            </a:bodyPr>
            <a:lstStyle/>
            <a:p>
              <a:pPr algn="l" rtl="0"/>
              <a:r>
                <a:rPr sz="1050" b="1" i="0">
                  <a:solidFill>
                    <a:srgbClr val="19315C"/>
                  </a:solidFill>
                  <a:latin typeface="Calibri"/>
                </a:rPr>
                <a:t>Sortino  </a:t>
              </a:r>
              <a:r>
                <a:rPr sz="950" b="0" i="0">
                  <a:solidFill>
                    <a:srgbClr val="7A828C"/>
                  </a:solidFill>
                  <a:latin typeface="Calibri"/>
                </a:rPr>
                <a:t>excess return / downside risk</a:t>
              </a:r>
            </a:p>
          </p:txBody>
        </p:sp>
        <p:sp>
          <p:nvSpPr>
            <p:cNvPr id="32" name="Rounded Rectangle 31"/>
            <p:cNvSpPr/>
            <p:nvPr/>
          </p:nvSpPr>
          <p:spPr>
            <a:xfrm>
              <a:off x="417500" y="5295967"/>
              <a:ext cx="140000" cy="140000"/>
            </a:xfrm>
            <a:prstGeom prst="roundRect">
              <a:avLst>
                <a:gd name="adj" fmla="val 50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2500" y="5249967"/>
              <a:ext cx="3202333" cy="300000"/>
            </a:xfrm>
            <a:prstGeom prst="rect">
              <a:avLst/>
            </a:prstGeom>
            <a:noFill/>
          </p:spPr>
          <p:txBody>
            <a:bodyPr wrap="square" lIns="60000" tIns="30000" rIns="60000" bIns="30000" anchor="ctr">
              <a:spAutoFit/>
            </a:bodyPr>
            <a:lstStyle/>
            <a:p>
              <a:pPr algn="l" rtl="0"/>
              <a:r>
                <a:rPr sz="1050" b="1" i="0">
                  <a:solidFill>
                    <a:srgbClr val="19315C"/>
                  </a:solidFill>
                  <a:latin typeface="Calibri"/>
                </a:rPr>
                <a:t>Treynor  </a:t>
              </a:r>
              <a:r>
                <a:rPr sz="950" b="0" i="0">
                  <a:solidFill>
                    <a:srgbClr val="7A828C"/>
                  </a:solidFill>
                  <a:latin typeface="Calibri"/>
                </a:rPr>
                <a:t>excess return / market beta</a:t>
              </a:r>
            </a:p>
          </p:txBody>
        </p:sp>
        <p:sp>
          <p:nvSpPr>
            <p:cNvPr id="34" name="Rounded Rectangle 33"/>
            <p:cNvSpPr/>
            <p:nvPr/>
          </p:nvSpPr>
          <p:spPr>
            <a:xfrm>
              <a:off x="417500" y="5547967"/>
              <a:ext cx="140000" cy="140000"/>
            </a:xfrm>
            <a:prstGeom prst="roundRect">
              <a:avLst>
                <a:gd name="adj" fmla="val 50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2500" y="5501967"/>
              <a:ext cx="3202333" cy="300000"/>
            </a:xfrm>
            <a:prstGeom prst="rect">
              <a:avLst/>
            </a:prstGeom>
            <a:noFill/>
          </p:spPr>
          <p:txBody>
            <a:bodyPr wrap="square" lIns="60000" tIns="30000" rIns="60000" bIns="30000" anchor="ctr">
              <a:spAutoFit/>
            </a:bodyPr>
            <a:lstStyle/>
            <a:p>
              <a:pPr algn="l" rtl="0"/>
              <a:r>
                <a:rPr sz="1050" b="1" i="0">
                  <a:solidFill>
                    <a:srgbClr val="19315C"/>
                  </a:solidFill>
                  <a:latin typeface="Calibri"/>
                </a:rPr>
                <a:t>Information  </a:t>
              </a:r>
              <a:r>
                <a:rPr sz="950" b="0" i="0">
                  <a:solidFill>
                    <a:srgbClr val="7A828C"/>
                  </a:solidFill>
                  <a:latin typeface="Calibri"/>
                </a:rPr>
                <a:t>active return / tracking error</a:t>
              </a:r>
            </a:p>
          </p:txBody>
        </p:sp>
        <p:sp>
          <p:nvSpPr>
            <p:cNvPr id="36" name="Rounded Rectangle 35"/>
            <p:cNvSpPr/>
            <p:nvPr/>
          </p:nvSpPr>
          <p:spPr>
            <a:xfrm>
              <a:off x="417500" y="5799967"/>
              <a:ext cx="140000" cy="140000"/>
            </a:xfrm>
            <a:prstGeom prst="roundRect">
              <a:avLst>
                <a:gd name="adj" fmla="val 50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2500" y="5753967"/>
              <a:ext cx="3202333" cy="300000"/>
            </a:xfrm>
            <a:prstGeom prst="rect">
              <a:avLst/>
            </a:prstGeom>
            <a:noFill/>
          </p:spPr>
          <p:txBody>
            <a:bodyPr wrap="square" lIns="60000" tIns="30000" rIns="60000" bIns="30000" anchor="ctr">
              <a:spAutoFit/>
            </a:bodyPr>
            <a:lstStyle/>
            <a:p>
              <a:pPr algn="l" rtl="0"/>
              <a:r>
                <a:rPr sz="1050" b="1" i="0">
                  <a:solidFill>
                    <a:srgbClr val="19315C"/>
                  </a:solidFill>
                  <a:latin typeface="Calibri"/>
                </a:rPr>
                <a:t>Calmar  </a:t>
              </a:r>
              <a:r>
                <a:rPr sz="950" b="0" i="0">
                  <a:solidFill>
                    <a:srgbClr val="7A828C"/>
                  </a:solidFill>
                  <a:latin typeface="Calibri"/>
                </a:rPr>
                <a:t>annual excess return / max drawdown</a:t>
              </a:r>
            </a:p>
          </p:txBody>
        </p:sp>
        <p:sp>
          <p:nvSpPr>
            <p:cNvPr id="39" name="TextBox 38"/>
            <p:cNvSpPr txBox="1"/>
            <p:nvPr/>
          </p:nvSpPr>
          <p:spPr>
            <a:xfrm>
              <a:off x="417500" y="6101967"/>
              <a:ext cx="3407333" cy="280000"/>
            </a:xfrm>
            <a:prstGeom prst="rect">
              <a:avLst/>
            </a:prstGeom>
            <a:noFill/>
          </p:spPr>
          <p:txBody>
            <a:bodyPr wrap="square" lIns="60000" tIns="30000" rIns="60000" bIns="30000" anchor="t">
              <a:spAutoFit/>
            </a:bodyPr>
            <a:lstStyle/>
            <a:p>
              <a:pPr algn="l" rtl="0"/>
              <a:r>
                <a:rPr sz="1000" b="1" i="0">
                  <a:solidFill>
                    <a:srgbClr val="0FC58F"/>
                  </a:solidFill>
                  <a:latin typeface="Segoe UI Semibold"/>
                </a:rPr>
                <a:t>New score:  </a:t>
              </a:r>
              <a:r>
                <a:rPr sz="1250" b="1" i="0">
                  <a:solidFill>
                    <a:srgbClr val="19315C"/>
                  </a:solidFill>
                  <a:latin typeface="Consolas"/>
                </a:rPr>
                <a:t>Score = diff × r × b</a:t>
              </a:r>
            </a:p>
          </p:txBody>
        </p:sp>
        <p:sp>
          <p:nvSpPr>
            <p:cNvPr id="40" name="TextBox 39"/>
            <p:cNvSpPr txBox="1"/>
            <p:nvPr/>
          </p:nvSpPr>
          <p:spPr>
            <a:xfrm>
              <a:off x="387500" y="6391967"/>
              <a:ext cx="3467333" cy="343099"/>
            </a:xfrm>
            <a:prstGeom prst="rect">
              <a:avLst/>
            </a:prstGeom>
            <a:noFill/>
          </p:spPr>
          <p:txBody>
            <a:bodyPr wrap="square" lIns="60000" tIns="30000" rIns="60000" bIns="30000" anchor="t">
              <a:spAutoFit/>
            </a:bodyPr>
            <a:lstStyle/>
            <a:p>
              <a:pPr algn="l" rtl="0">
                <a:lnSpc>
                  <a:spcPct val="104000"/>
                </a:lnSpc>
                <a:spcAft>
                  <a:spcPts val="300"/>
                </a:spcAft>
              </a:pPr>
              <a:r>
                <a:rPr sz="900" b="0" i="0" dirty="0">
                  <a:solidFill>
                    <a:srgbClr val="3A3F47"/>
                  </a:solidFill>
                  <a:latin typeface="Calibri"/>
                </a:rPr>
                <a:t>Exp-regression factors on the train window; the score's sign predicts UP </a:t>
              </a:r>
              <a:r>
                <a:rPr lang="en-US" sz="900" b="0" i="0" dirty="0">
                  <a:solidFill>
                    <a:srgbClr val="3A3F47"/>
                  </a:solidFill>
                  <a:latin typeface="Calibri"/>
                </a:rPr>
                <a:t>or</a:t>
              </a:r>
              <a:r>
                <a:rPr sz="900" b="0" i="0" dirty="0">
                  <a:solidFill>
                    <a:srgbClr val="3A3F47"/>
                  </a:solidFill>
                  <a:latin typeface="Calibri"/>
                </a:rPr>
                <a:t> DOWN (zero → FLAT).</a:t>
              </a:r>
            </a:p>
          </p:txBody>
        </p:sp>
      </p:grpSp>
      <p:sp>
        <p:nvSpPr>
          <p:cNvPr id="41" name="Rounded Rectangle 40"/>
          <p:cNvSpPr/>
          <p:nvPr/>
        </p:nvSpPr>
        <p:spPr>
          <a:xfrm>
            <a:off x="8164666" y="4794250"/>
            <a:ext cx="3707333" cy="1927718"/>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8314666" y="4888449"/>
            <a:ext cx="300000" cy="300000"/>
          </a:xfrm>
          <a:prstGeom prst="roundRect">
            <a:avLst>
              <a:gd name="adj" fmla="val 22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314666" y="4883449"/>
            <a:ext cx="300000" cy="310000"/>
          </a:xfrm>
          <a:prstGeom prst="rect">
            <a:avLst/>
          </a:prstGeom>
          <a:noFill/>
        </p:spPr>
        <p:txBody>
          <a:bodyPr wrap="square" lIns="60000" tIns="30000" rIns="60000" bIns="30000" anchor="ctr">
            <a:spAutoFit/>
          </a:bodyPr>
          <a:lstStyle/>
          <a:p>
            <a:pPr algn="ctr" rtl="0"/>
            <a:r>
              <a:rPr sz="1500" b="1" i="0" dirty="0">
                <a:solidFill>
                  <a:srgbClr val="FFFFFF"/>
                </a:solidFill>
                <a:latin typeface="Segoe UI Semibold"/>
              </a:rPr>
              <a:t>5</a:t>
            </a:r>
          </a:p>
        </p:txBody>
      </p:sp>
      <p:sp>
        <p:nvSpPr>
          <p:cNvPr id="44" name="TextBox 43"/>
          <p:cNvSpPr txBox="1"/>
          <p:nvPr/>
        </p:nvSpPr>
        <p:spPr>
          <a:xfrm>
            <a:off x="8694666" y="4907434"/>
            <a:ext cx="2607333" cy="276030"/>
          </a:xfrm>
          <a:prstGeom prst="rect">
            <a:avLst/>
          </a:prstGeom>
          <a:noFill/>
        </p:spPr>
        <p:txBody>
          <a:bodyPr wrap="square" lIns="60000" tIns="30000" rIns="60000" bIns="30000" anchor="ctr">
            <a:spAutoFit/>
          </a:bodyPr>
          <a:lstStyle/>
          <a:p>
            <a:pPr algn="l" rtl="0"/>
            <a:r>
              <a:rPr lang="en-US" sz="1400" b="1" dirty="0">
                <a:solidFill>
                  <a:srgbClr val="19315C"/>
                </a:solidFill>
                <a:latin typeface="Segoe UI Semibold"/>
              </a:rPr>
              <a:t>Conclusion &amp; </a:t>
            </a:r>
            <a:r>
              <a:rPr sz="1400" b="1" i="0" dirty="0">
                <a:solidFill>
                  <a:srgbClr val="19315C"/>
                </a:solidFill>
                <a:latin typeface="Segoe UI Semibold"/>
              </a:rPr>
              <a:t>Future Work</a:t>
            </a:r>
          </a:p>
        </p:txBody>
      </p:sp>
      <p:sp>
        <p:nvSpPr>
          <p:cNvPr id="46" name="Rectangle 45"/>
          <p:cNvSpPr/>
          <p:nvPr/>
        </p:nvSpPr>
        <p:spPr>
          <a:xfrm>
            <a:off x="8334666" y="5248449"/>
            <a:ext cx="3407333" cy="10000"/>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294664" y="5868376"/>
            <a:ext cx="3447333" cy="600000"/>
          </a:xfrm>
          <a:prstGeom prst="rect">
            <a:avLst/>
          </a:prstGeom>
          <a:noFill/>
        </p:spPr>
        <p:txBody>
          <a:bodyPr wrap="square" lIns="60000" tIns="30000" rIns="60000" bIns="30000" anchor="t">
            <a:spAutoFit/>
          </a:bodyPr>
          <a:lstStyle/>
          <a:p>
            <a:pPr algn="l" rtl="0">
              <a:lnSpc>
                <a:spcPct val="103000"/>
              </a:lnSpc>
              <a:spcAft>
                <a:spcPts val="400"/>
              </a:spcAft>
            </a:pPr>
            <a:r>
              <a:rPr sz="1050" b="1" i="0" dirty="0">
                <a:solidFill>
                  <a:srgbClr val="0FC58F"/>
                </a:solidFill>
                <a:latin typeface="Calibri"/>
              </a:rPr>
              <a:t>• </a:t>
            </a:r>
            <a:r>
              <a:rPr sz="950" b="0" i="0" dirty="0">
                <a:solidFill>
                  <a:srgbClr val="3A3F47"/>
                </a:solidFill>
                <a:latin typeface="Calibri"/>
              </a:rPr>
              <a:t>Add transaction costs &amp; slippage to P&amp;L</a:t>
            </a:r>
          </a:p>
          <a:p>
            <a:pPr algn="l" rtl="0">
              <a:lnSpc>
                <a:spcPct val="103000"/>
              </a:lnSpc>
              <a:spcAft>
                <a:spcPts val="400"/>
              </a:spcAft>
            </a:pPr>
            <a:r>
              <a:rPr sz="1050" b="1" i="0" dirty="0">
                <a:solidFill>
                  <a:srgbClr val="0FC58F"/>
                </a:solidFill>
                <a:latin typeface="Calibri"/>
              </a:rPr>
              <a:t>• </a:t>
            </a:r>
            <a:r>
              <a:rPr sz="950" b="0" i="0" dirty="0">
                <a:solidFill>
                  <a:srgbClr val="3A3F47"/>
                </a:solidFill>
                <a:latin typeface="Calibri"/>
              </a:rPr>
              <a:t>Multi-factor regression scoring (vs. product)</a:t>
            </a:r>
          </a:p>
          <a:p>
            <a:pPr algn="l" rtl="0">
              <a:lnSpc>
                <a:spcPct val="103000"/>
              </a:lnSpc>
              <a:spcAft>
                <a:spcPts val="400"/>
              </a:spcAft>
            </a:pPr>
            <a:r>
              <a:rPr sz="1050" b="1" i="0" dirty="0">
                <a:solidFill>
                  <a:srgbClr val="0FC58F"/>
                </a:solidFill>
                <a:latin typeface="Calibri"/>
              </a:rPr>
              <a:t>• </a:t>
            </a:r>
            <a:r>
              <a:rPr sz="950" b="0" i="0" dirty="0">
                <a:solidFill>
                  <a:srgbClr val="3A3F47"/>
                </a:solidFill>
                <a:latin typeface="Calibri"/>
              </a:rPr>
              <a:t>Regime detector to auto-switch metric</a:t>
            </a:r>
          </a:p>
        </p:txBody>
      </p:sp>
      <p:sp>
        <p:nvSpPr>
          <p:cNvPr id="48" name="Rounded Rectangle 47"/>
          <p:cNvSpPr/>
          <p:nvPr/>
        </p:nvSpPr>
        <p:spPr>
          <a:xfrm>
            <a:off x="4242333" y="1530000"/>
            <a:ext cx="3707333" cy="1480000"/>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4392333" y="1625000"/>
            <a:ext cx="300000" cy="300000"/>
          </a:xfrm>
          <a:prstGeom prst="roundRect">
            <a:avLst>
              <a:gd name="adj" fmla="val 22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392333" y="1613000"/>
            <a:ext cx="300000" cy="310000"/>
          </a:xfrm>
          <a:prstGeom prst="rect">
            <a:avLst/>
          </a:prstGeom>
          <a:noFill/>
        </p:spPr>
        <p:txBody>
          <a:bodyPr wrap="square" lIns="60000" tIns="30000" rIns="60000" bIns="30000" anchor="ctr">
            <a:spAutoFit/>
          </a:bodyPr>
          <a:lstStyle/>
          <a:p>
            <a:pPr algn="ctr" rtl="0"/>
            <a:r>
              <a:rPr sz="1500" b="1" i="0" dirty="0">
                <a:solidFill>
                  <a:srgbClr val="FFFFFF"/>
                </a:solidFill>
                <a:latin typeface="Segoe UI Semibold"/>
              </a:rPr>
              <a:t>3</a:t>
            </a:r>
          </a:p>
        </p:txBody>
      </p:sp>
      <p:sp>
        <p:nvSpPr>
          <p:cNvPr id="51" name="TextBox 50"/>
          <p:cNvSpPr txBox="1"/>
          <p:nvPr/>
        </p:nvSpPr>
        <p:spPr>
          <a:xfrm>
            <a:off x="4772333" y="1605000"/>
            <a:ext cx="2607333" cy="340000"/>
          </a:xfrm>
          <a:prstGeom prst="rect">
            <a:avLst/>
          </a:prstGeom>
          <a:noFill/>
        </p:spPr>
        <p:txBody>
          <a:bodyPr wrap="square" lIns="60000" tIns="30000" rIns="60000" bIns="30000" anchor="ctr">
            <a:spAutoFit/>
          </a:bodyPr>
          <a:lstStyle/>
          <a:p>
            <a:pPr algn="l" rtl="0"/>
            <a:r>
              <a:rPr sz="1400" b="1" i="0">
                <a:solidFill>
                  <a:srgbClr val="19315C"/>
                </a:solidFill>
                <a:latin typeface="Segoe UI Semibold"/>
              </a:rPr>
              <a:t>Methodology &amp; Experiment</a:t>
            </a:r>
          </a:p>
        </p:txBody>
      </p:sp>
      <p:sp>
        <p:nvSpPr>
          <p:cNvPr id="53" name="Rectangle 52"/>
          <p:cNvSpPr/>
          <p:nvPr/>
        </p:nvSpPr>
        <p:spPr>
          <a:xfrm>
            <a:off x="4392333" y="1967000"/>
            <a:ext cx="3407333" cy="10000"/>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4362333" y="2025000"/>
            <a:ext cx="3467333" cy="200000"/>
          </a:xfrm>
          <a:prstGeom prst="rect">
            <a:avLst/>
          </a:prstGeom>
          <a:noFill/>
        </p:spPr>
        <p:txBody>
          <a:bodyPr wrap="square" lIns="60000" tIns="30000" rIns="60000" bIns="30000" anchor="t">
            <a:spAutoFit/>
          </a:bodyPr>
          <a:lstStyle/>
          <a:p>
            <a:pPr algn="l" rtl="0">
              <a:lnSpc>
                <a:spcPct val="104000"/>
              </a:lnSpc>
              <a:spcAft>
                <a:spcPts val="200"/>
              </a:spcAft>
            </a:pPr>
            <a:r>
              <a:rPr sz="1000" b="0" i="0">
                <a:solidFill>
                  <a:srgbClr val="3A3F47"/>
                </a:solidFill>
                <a:latin typeface="Calibri"/>
              </a:rPr>
              <a:t>Fit </a:t>
            </a:r>
            <a:r>
              <a:rPr sz="950" b="1" i="0">
                <a:solidFill>
                  <a:srgbClr val="19315C"/>
                </a:solidFill>
                <a:latin typeface="Consolas"/>
              </a:rPr>
              <a:t>ln(P) = a + b·t</a:t>
            </a:r>
            <a:r>
              <a:rPr sz="1000" b="0" i="0">
                <a:solidFill>
                  <a:srgbClr val="3A3F47"/>
                </a:solidFill>
                <a:latin typeface="Calibri"/>
              </a:rPr>
              <a:t> on the training window to get three factors:</a:t>
            </a:r>
          </a:p>
        </p:txBody>
      </p:sp>
      <p:sp>
        <p:nvSpPr>
          <p:cNvPr id="55" name="TextBox 54"/>
          <p:cNvSpPr txBox="1"/>
          <p:nvPr/>
        </p:nvSpPr>
        <p:spPr>
          <a:xfrm>
            <a:off x="4372333" y="2385000"/>
            <a:ext cx="3447333" cy="560000"/>
          </a:xfrm>
          <a:prstGeom prst="rect">
            <a:avLst/>
          </a:prstGeom>
          <a:noFill/>
        </p:spPr>
        <p:txBody>
          <a:bodyPr wrap="square" lIns="60000" tIns="30000" rIns="60000" bIns="30000" anchor="t">
            <a:spAutoFit/>
          </a:bodyPr>
          <a:lstStyle/>
          <a:p>
            <a:pPr algn="l" rtl="0">
              <a:lnSpc>
                <a:spcPct val="100000"/>
              </a:lnSpc>
              <a:spcAft>
                <a:spcPts val="300"/>
              </a:spcAft>
            </a:pPr>
            <a:r>
              <a:rPr sz="1000" b="1" i="0">
                <a:solidFill>
                  <a:srgbClr val="0FC58F"/>
                </a:solidFill>
                <a:latin typeface="Consolas"/>
              </a:rPr>
              <a:t>diff </a:t>
            </a:r>
            <a:r>
              <a:rPr sz="950" b="0" i="0">
                <a:solidFill>
                  <a:srgbClr val="3A3F47"/>
                </a:solidFill>
                <a:latin typeface="Calibri"/>
              </a:rPr>
              <a:t>= trend − price → mean-reversion signal</a:t>
            </a:r>
          </a:p>
          <a:p>
            <a:pPr algn="l" rtl="0">
              <a:lnSpc>
                <a:spcPct val="100000"/>
              </a:lnSpc>
              <a:spcAft>
                <a:spcPts val="300"/>
              </a:spcAft>
            </a:pPr>
            <a:r>
              <a:rPr sz="1000" b="1" i="0">
                <a:solidFill>
                  <a:srgbClr val="0FC58F"/>
                </a:solidFill>
                <a:latin typeface="Consolas"/>
              </a:rPr>
              <a:t>r </a:t>
            </a:r>
            <a:r>
              <a:rPr sz="950" b="0" i="0">
                <a:solidFill>
                  <a:srgbClr val="3A3F47"/>
                </a:solidFill>
                <a:latin typeface="Calibri"/>
              </a:rPr>
              <a:t>= exp-fit quality (Pearson corr.)</a:t>
            </a:r>
          </a:p>
          <a:p>
            <a:pPr algn="l" rtl="0">
              <a:lnSpc>
                <a:spcPct val="100000"/>
              </a:lnSpc>
              <a:spcAft>
                <a:spcPts val="300"/>
              </a:spcAft>
            </a:pPr>
            <a:r>
              <a:rPr sz="1000" b="1" i="0">
                <a:solidFill>
                  <a:srgbClr val="0FC58F"/>
                </a:solidFill>
                <a:latin typeface="Consolas"/>
              </a:rPr>
              <a:t>b </a:t>
            </a:r>
            <a:r>
              <a:rPr sz="950" b="0" i="0">
                <a:solidFill>
                  <a:srgbClr val="3A3F47"/>
                </a:solidFill>
                <a:latin typeface="Calibri"/>
              </a:rPr>
              <a:t>= log-growth slope → direction</a:t>
            </a:r>
          </a:p>
        </p:txBody>
      </p:sp>
      <p:sp>
        <p:nvSpPr>
          <p:cNvPr id="56" name="Rounded Rectangle 55"/>
          <p:cNvSpPr/>
          <p:nvPr/>
        </p:nvSpPr>
        <p:spPr>
          <a:xfrm>
            <a:off x="4242333" y="3065000"/>
            <a:ext cx="3707333" cy="2919306"/>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7" name="Picture 56" descr="methodology_expfit.png"/>
          <p:cNvPicPr>
            <a:picLocks noChangeAspect="1"/>
          </p:cNvPicPr>
          <p:nvPr/>
        </p:nvPicPr>
        <p:blipFill>
          <a:blip r:embed="rId3"/>
          <a:stretch>
            <a:fillRect/>
          </a:stretch>
        </p:blipFill>
        <p:spPr>
          <a:xfrm>
            <a:off x="4302335" y="3125308"/>
            <a:ext cx="3562331" cy="2317809"/>
          </a:xfrm>
          <a:prstGeom prst="rect">
            <a:avLst/>
          </a:prstGeom>
        </p:spPr>
      </p:pic>
      <p:sp>
        <p:nvSpPr>
          <p:cNvPr id="58" name="TextBox 57"/>
          <p:cNvSpPr txBox="1"/>
          <p:nvPr/>
        </p:nvSpPr>
        <p:spPr>
          <a:xfrm>
            <a:off x="4417333" y="5610306"/>
            <a:ext cx="3447333" cy="260000"/>
          </a:xfrm>
          <a:prstGeom prst="rect">
            <a:avLst/>
          </a:prstGeom>
          <a:noFill/>
        </p:spPr>
        <p:txBody>
          <a:bodyPr wrap="square" lIns="60000" tIns="30000" rIns="60000" bIns="30000" anchor="t">
            <a:spAutoFit/>
          </a:bodyPr>
          <a:lstStyle/>
          <a:p>
            <a:pPr algn="l" rtl="0">
              <a:lnSpc>
                <a:spcPct val="100000"/>
              </a:lnSpc>
            </a:pPr>
            <a:r>
              <a:rPr sz="850" b="0" i="1" dirty="0">
                <a:solidFill>
                  <a:srgbClr val="7A828C"/>
                </a:solidFill>
                <a:latin typeface="Calibri"/>
              </a:rPr>
              <a:t>diff = how far price sits from its exponential trend — the core directional signal.</a:t>
            </a:r>
          </a:p>
        </p:txBody>
      </p:sp>
      <p:grpSp>
        <p:nvGrpSpPr>
          <p:cNvPr id="11" name="Group 10">
            <a:extLst>
              <a:ext uri="{FF2B5EF4-FFF2-40B4-BE49-F238E27FC236}">
                <a16:creationId xmlns:a16="http://schemas.microsoft.com/office/drawing/2014/main" id="{97CCC150-C3D7-5761-85EA-A61C4CB7ED58}"/>
              </a:ext>
            </a:extLst>
          </p:cNvPr>
          <p:cNvGrpSpPr/>
          <p:nvPr/>
        </p:nvGrpSpPr>
        <p:grpSpPr>
          <a:xfrm>
            <a:off x="4217333" y="6050778"/>
            <a:ext cx="3707333" cy="614627"/>
            <a:chOff x="4242333" y="4542525"/>
            <a:chExt cx="3707333" cy="1787475"/>
          </a:xfrm>
        </p:grpSpPr>
        <p:sp>
          <p:nvSpPr>
            <p:cNvPr id="59" name="Rounded Rectangle 58"/>
            <p:cNvSpPr/>
            <p:nvPr/>
          </p:nvSpPr>
          <p:spPr>
            <a:xfrm>
              <a:off x="4242333" y="4542525"/>
              <a:ext cx="3707333" cy="1787475"/>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grpSp>
          <p:nvGrpSpPr>
            <p:cNvPr id="9" name="Group 8">
              <a:extLst>
                <a:ext uri="{FF2B5EF4-FFF2-40B4-BE49-F238E27FC236}">
                  <a16:creationId xmlns:a16="http://schemas.microsoft.com/office/drawing/2014/main" id="{5A61E821-3367-1108-0B10-BB6325AFE202}"/>
                </a:ext>
              </a:extLst>
            </p:cNvPr>
            <p:cNvGrpSpPr/>
            <p:nvPr/>
          </p:nvGrpSpPr>
          <p:grpSpPr>
            <a:xfrm>
              <a:off x="4327335" y="5054901"/>
              <a:ext cx="3407331" cy="788877"/>
              <a:chOff x="4327335" y="5054901"/>
              <a:chExt cx="3407331" cy="788877"/>
            </a:xfrm>
          </p:grpSpPr>
          <p:sp>
            <p:nvSpPr>
              <p:cNvPr id="61" name="TextBox 60"/>
              <p:cNvSpPr txBox="1"/>
              <p:nvPr/>
            </p:nvSpPr>
            <p:spPr>
              <a:xfrm>
                <a:off x="4327335" y="5234339"/>
                <a:ext cx="1135777" cy="429999"/>
              </a:xfrm>
              <a:prstGeom prst="rect">
                <a:avLst/>
              </a:prstGeom>
              <a:noFill/>
            </p:spPr>
            <p:txBody>
              <a:bodyPr wrap="square" lIns="60000" tIns="30000" rIns="60000" bIns="30000" anchor="ctr">
                <a:spAutoFit/>
              </a:bodyPr>
              <a:lstStyle/>
              <a:p>
                <a:pPr algn="ctr" rtl="0">
                  <a:lnSpc>
                    <a:spcPct val="90000"/>
                  </a:lnSpc>
                </a:pPr>
                <a:r>
                  <a:rPr sz="2600" b="1" i="0" dirty="0">
                    <a:solidFill>
                      <a:srgbClr val="19315C"/>
                    </a:solidFill>
                    <a:latin typeface="Segoe UI Semibold"/>
                  </a:rPr>
                  <a:t>180</a:t>
                </a:r>
              </a:p>
              <a:p>
                <a:pPr algn="ctr" rtl="0"/>
                <a:r>
                  <a:rPr sz="850" b="0" i="0" dirty="0">
                    <a:solidFill>
                      <a:srgbClr val="7A828C"/>
                    </a:solidFill>
                    <a:latin typeface="Calibri"/>
                  </a:rPr>
                  <a:t>configurations</a:t>
                </a:r>
              </a:p>
            </p:txBody>
          </p:sp>
          <p:sp>
            <p:nvSpPr>
              <p:cNvPr id="63" name="TextBox 62"/>
              <p:cNvSpPr txBox="1"/>
              <p:nvPr/>
            </p:nvSpPr>
            <p:spPr>
              <a:xfrm>
                <a:off x="5463112" y="5054901"/>
                <a:ext cx="1135777" cy="788877"/>
              </a:xfrm>
              <a:prstGeom prst="rect">
                <a:avLst/>
              </a:prstGeom>
              <a:noFill/>
            </p:spPr>
            <p:txBody>
              <a:bodyPr wrap="square" lIns="60000" tIns="30000" rIns="60000" bIns="30000" anchor="ctr">
                <a:spAutoFit/>
              </a:bodyPr>
              <a:lstStyle/>
              <a:p>
                <a:pPr algn="ctr" rtl="0">
                  <a:lnSpc>
                    <a:spcPct val="90000"/>
                  </a:lnSpc>
                </a:pPr>
                <a:r>
                  <a:rPr sz="2600" b="1" i="0" dirty="0">
                    <a:solidFill>
                      <a:srgbClr val="19315C"/>
                    </a:solidFill>
                    <a:latin typeface="Segoe UI Semibold"/>
                  </a:rPr>
                  <a:t>100</a:t>
                </a:r>
              </a:p>
              <a:p>
                <a:pPr algn="ctr" rtl="0"/>
                <a:r>
                  <a:rPr lang="en-US" sz="850" b="0" i="0" dirty="0">
                    <a:solidFill>
                      <a:srgbClr val="7A828C"/>
                    </a:solidFill>
                    <a:latin typeface="Calibri"/>
                  </a:rPr>
                  <a:t>ETF</a:t>
                </a:r>
                <a:r>
                  <a:rPr lang="en-US" sz="850" dirty="0">
                    <a:solidFill>
                      <a:srgbClr val="7A828C"/>
                    </a:solidFill>
                    <a:latin typeface="Calibri"/>
                  </a:rPr>
                  <a:t>s</a:t>
                </a:r>
                <a:endParaRPr sz="850" b="0" i="0" dirty="0">
                  <a:solidFill>
                    <a:srgbClr val="7A828C"/>
                  </a:solidFill>
                  <a:latin typeface="Calibri"/>
                </a:endParaRPr>
              </a:p>
            </p:txBody>
          </p:sp>
          <p:sp>
            <p:nvSpPr>
              <p:cNvPr id="65" name="TextBox 64"/>
              <p:cNvSpPr txBox="1"/>
              <p:nvPr/>
            </p:nvSpPr>
            <p:spPr>
              <a:xfrm>
                <a:off x="6598889" y="5234340"/>
                <a:ext cx="1135777" cy="430000"/>
              </a:xfrm>
              <a:prstGeom prst="rect">
                <a:avLst/>
              </a:prstGeom>
              <a:noFill/>
            </p:spPr>
            <p:txBody>
              <a:bodyPr wrap="square" lIns="60000" tIns="30000" rIns="60000" bIns="30000" anchor="ctr">
                <a:spAutoFit/>
              </a:bodyPr>
              <a:lstStyle/>
              <a:p>
                <a:pPr algn="ctr" rtl="0">
                  <a:lnSpc>
                    <a:spcPct val="90000"/>
                  </a:lnSpc>
                </a:pPr>
                <a:r>
                  <a:rPr sz="2600" b="1" i="0" dirty="0">
                    <a:solidFill>
                      <a:srgbClr val="19315C"/>
                    </a:solidFill>
                    <a:latin typeface="Segoe UI Semibold"/>
                  </a:rPr>
                  <a:t>9</a:t>
                </a:r>
              </a:p>
              <a:p>
                <a:pPr algn="ctr" rtl="0"/>
                <a:r>
                  <a:rPr sz="850" b="0" i="0" dirty="0">
                    <a:solidFill>
                      <a:srgbClr val="7A828C"/>
                    </a:solidFill>
                    <a:latin typeface="Calibri"/>
                  </a:rPr>
                  <a:t>market eras</a:t>
                </a:r>
              </a:p>
            </p:txBody>
          </p:sp>
        </p:grpSp>
      </p:grpSp>
      <p:sp>
        <p:nvSpPr>
          <p:cNvPr id="67" name="Rounded Rectangle 66"/>
          <p:cNvSpPr/>
          <p:nvPr/>
        </p:nvSpPr>
        <p:spPr>
          <a:xfrm>
            <a:off x="8164666" y="1530000"/>
            <a:ext cx="3707333" cy="3152938"/>
          </a:xfrm>
          <a:prstGeom prst="roundRect">
            <a:avLst>
              <a:gd name="adj" fmla="val 4500"/>
            </a:avLst>
          </a:prstGeom>
          <a:solidFill>
            <a:srgbClr val="FFFFFF"/>
          </a:solidFill>
          <a:ln w="9525">
            <a:solidFill>
              <a:srgbClr val="DDE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67"/>
          <p:cNvSpPr/>
          <p:nvPr/>
        </p:nvSpPr>
        <p:spPr>
          <a:xfrm>
            <a:off x="8314666" y="1625000"/>
            <a:ext cx="300000" cy="300000"/>
          </a:xfrm>
          <a:prstGeom prst="roundRect">
            <a:avLst>
              <a:gd name="adj" fmla="val 22000"/>
            </a:avLst>
          </a:prstGeom>
          <a:solidFill>
            <a:srgbClr val="1931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8314666" y="1613000"/>
            <a:ext cx="300000" cy="310000"/>
          </a:xfrm>
          <a:prstGeom prst="rect">
            <a:avLst/>
          </a:prstGeom>
          <a:noFill/>
        </p:spPr>
        <p:txBody>
          <a:bodyPr wrap="square" lIns="60000" tIns="30000" rIns="60000" bIns="30000" anchor="ctr">
            <a:spAutoFit/>
          </a:bodyPr>
          <a:lstStyle/>
          <a:p>
            <a:pPr algn="ctr" rtl="0"/>
            <a:r>
              <a:rPr sz="1500" b="1" i="0">
                <a:solidFill>
                  <a:srgbClr val="FFFFFF"/>
                </a:solidFill>
                <a:latin typeface="Segoe UI Semibold"/>
              </a:rPr>
              <a:t>4</a:t>
            </a:r>
          </a:p>
        </p:txBody>
      </p:sp>
      <p:sp>
        <p:nvSpPr>
          <p:cNvPr id="70" name="TextBox 69"/>
          <p:cNvSpPr txBox="1"/>
          <p:nvPr/>
        </p:nvSpPr>
        <p:spPr>
          <a:xfrm>
            <a:off x="8694666" y="1605000"/>
            <a:ext cx="2607333" cy="340000"/>
          </a:xfrm>
          <a:prstGeom prst="rect">
            <a:avLst/>
          </a:prstGeom>
          <a:noFill/>
        </p:spPr>
        <p:txBody>
          <a:bodyPr wrap="square" lIns="60000" tIns="30000" rIns="60000" bIns="30000" anchor="ctr">
            <a:spAutoFit/>
          </a:bodyPr>
          <a:lstStyle/>
          <a:p>
            <a:pPr algn="l" rtl="0"/>
            <a:r>
              <a:rPr sz="1400" b="1" i="0">
                <a:solidFill>
                  <a:srgbClr val="19315C"/>
                </a:solidFill>
                <a:latin typeface="Segoe UI Semibold"/>
              </a:rPr>
              <a:t>Results</a:t>
            </a:r>
          </a:p>
        </p:txBody>
      </p:sp>
      <p:sp>
        <p:nvSpPr>
          <p:cNvPr id="72" name="Rectangle 71"/>
          <p:cNvSpPr/>
          <p:nvPr/>
        </p:nvSpPr>
        <p:spPr>
          <a:xfrm>
            <a:off x="8314666" y="1967000"/>
            <a:ext cx="3407333" cy="10000"/>
          </a:xfrm>
          <a:prstGeom prst="rect">
            <a:avLst/>
          </a:prstGeom>
          <a:solidFill>
            <a:srgbClr val="DDE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314666" y="4179119"/>
            <a:ext cx="3617333" cy="429918"/>
          </a:xfrm>
          <a:prstGeom prst="rect">
            <a:avLst/>
          </a:prstGeom>
          <a:noFill/>
        </p:spPr>
        <p:txBody>
          <a:bodyPr wrap="square" lIns="60000" tIns="30000" rIns="60000" bIns="30000" anchor="t">
            <a:spAutoFit/>
          </a:bodyPr>
          <a:lstStyle/>
          <a:p>
            <a:pPr algn="l"/>
            <a:r>
              <a:rPr lang="en-US" sz="800" i="1" dirty="0">
                <a:solidFill>
                  <a:schemeClr val="bg1">
                    <a:lumMod val="50000"/>
                  </a:schemeClr>
                </a:solidFill>
                <a:latin typeface="David" panose="020E0502060401010101" pitchFamily="34" charset="-79"/>
                <a:cs typeface="David" panose="020E0502060401010101" pitchFamily="34" charset="-79"/>
              </a:rPr>
              <a:t>Mean directional accuracy of the new score (teal) versus the average of the five classical ratios (grey) for each market era. The dashed line marks the 50% coin-flip baseline</a:t>
            </a:r>
          </a:p>
        </p:txBody>
      </p:sp>
      <p:pic>
        <p:nvPicPr>
          <p:cNvPr id="82" name="Picture 81" descr="qr_app.png"/>
          <p:cNvPicPr>
            <a:picLocks noChangeAspect="1"/>
          </p:cNvPicPr>
          <p:nvPr/>
        </p:nvPicPr>
        <p:blipFill>
          <a:blip r:embed="rId4"/>
          <a:stretch>
            <a:fillRect/>
          </a:stretch>
        </p:blipFill>
        <p:spPr>
          <a:xfrm>
            <a:off x="10836999" y="5460637"/>
            <a:ext cx="950000" cy="950000"/>
          </a:xfrm>
          <a:prstGeom prst="rect">
            <a:avLst/>
          </a:prstGeom>
        </p:spPr>
      </p:pic>
      <p:sp>
        <p:nvSpPr>
          <p:cNvPr id="83" name="TextBox 82"/>
          <p:cNvSpPr txBox="1"/>
          <p:nvPr/>
        </p:nvSpPr>
        <p:spPr>
          <a:xfrm>
            <a:off x="10891999" y="6435405"/>
            <a:ext cx="820000" cy="230000"/>
          </a:xfrm>
          <a:prstGeom prst="rect">
            <a:avLst/>
          </a:prstGeom>
          <a:noFill/>
        </p:spPr>
        <p:txBody>
          <a:bodyPr wrap="square" lIns="60000" tIns="30000" rIns="60000" bIns="30000" anchor="t">
            <a:spAutoFit/>
          </a:bodyPr>
          <a:lstStyle/>
          <a:p>
            <a:pPr algn="ctr" rtl="0"/>
            <a:r>
              <a:rPr sz="850" b="1" i="0" dirty="0">
                <a:solidFill>
                  <a:srgbClr val="19315C"/>
                </a:solidFill>
                <a:latin typeface="Calibri"/>
              </a:rPr>
              <a:t>Scan to try it</a:t>
            </a:r>
          </a:p>
        </p:txBody>
      </p:sp>
      <p:sp>
        <p:nvSpPr>
          <p:cNvPr id="84" name="TextBox 83"/>
          <p:cNvSpPr txBox="1"/>
          <p:nvPr/>
        </p:nvSpPr>
        <p:spPr>
          <a:xfrm>
            <a:off x="8314666" y="5245755"/>
            <a:ext cx="2537333" cy="200000"/>
          </a:xfrm>
          <a:prstGeom prst="rect">
            <a:avLst/>
          </a:prstGeom>
          <a:noFill/>
        </p:spPr>
        <p:txBody>
          <a:bodyPr wrap="square" lIns="60000" tIns="30000" rIns="60000" bIns="30000" anchor="t">
            <a:spAutoFit/>
          </a:bodyPr>
          <a:lstStyle/>
          <a:p>
            <a:pPr algn="l" rtl="0">
              <a:lnSpc>
                <a:spcPct val="105000"/>
              </a:lnSpc>
              <a:spcAft>
                <a:spcPts val="300"/>
              </a:spcAft>
            </a:pPr>
            <a:r>
              <a:rPr sz="950" b="0" i="0" dirty="0">
                <a:solidFill>
                  <a:srgbClr val="3A3F47"/>
                </a:solidFill>
                <a:latin typeface="Calibri"/>
              </a:rPr>
              <a:t>No single metric wins everywhere. The mean-reversion score and classical ratios are </a:t>
            </a:r>
            <a:r>
              <a:rPr sz="950" b="1" i="0" dirty="0">
                <a:solidFill>
                  <a:srgbClr val="19315C"/>
                </a:solidFill>
                <a:latin typeface="Calibri"/>
              </a:rPr>
              <a:t>complementary</a:t>
            </a:r>
            <a:r>
              <a:rPr sz="950" b="0" i="0" dirty="0">
                <a:solidFill>
                  <a:srgbClr val="3A3F47"/>
                </a:solidFill>
                <a:latin typeface="Calibri"/>
              </a:rPr>
              <a:t> — the market regime decides which to trust.</a:t>
            </a:r>
          </a:p>
        </p:txBody>
      </p:sp>
      <p:sp>
        <p:nvSpPr>
          <p:cNvPr id="85" name="TextBox 84"/>
          <p:cNvSpPr txBox="1"/>
          <p:nvPr/>
        </p:nvSpPr>
        <p:spPr>
          <a:xfrm>
            <a:off x="8294665" y="6465170"/>
            <a:ext cx="3447333" cy="230000"/>
          </a:xfrm>
          <a:prstGeom prst="rect">
            <a:avLst/>
          </a:prstGeom>
          <a:noFill/>
        </p:spPr>
        <p:txBody>
          <a:bodyPr wrap="square" lIns="60000" tIns="30000" rIns="60000" bIns="30000" anchor="t">
            <a:spAutoFit/>
          </a:bodyPr>
          <a:lstStyle/>
          <a:p>
            <a:pPr algn="l" rtl="0"/>
            <a:r>
              <a:rPr sz="950" b="1" i="0" dirty="0">
                <a:solidFill>
                  <a:srgbClr val="3A3F47"/>
                </a:solidFill>
                <a:latin typeface="Calibri"/>
              </a:rPr>
              <a:t>Live tool:  </a:t>
            </a:r>
            <a:r>
              <a:rPr sz="950" b="1" i="0" dirty="0">
                <a:solidFill>
                  <a:srgbClr val="0FC58F"/>
                </a:solidFill>
                <a:latin typeface="Calibri"/>
              </a:rPr>
              <a:t>risk-return-</a:t>
            </a:r>
            <a:r>
              <a:rPr sz="950" b="1" i="0" dirty="0" err="1">
                <a:solidFill>
                  <a:srgbClr val="0FC58F"/>
                </a:solidFill>
                <a:latin typeface="Calibri"/>
              </a:rPr>
              <a:t>ratio.streamlit.app</a:t>
            </a:r>
            <a:endParaRPr sz="950" b="1" i="0" dirty="0">
              <a:solidFill>
                <a:srgbClr val="0FC58F"/>
              </a:solidFill>
              <a:latin typeface="Calibri"/>
            </a:endParaRPr>
          </a:p>
        </p:txBody>
      </p:sp>
      <p:pic>
        <p:nvPicPr>
          <p:cNvPr id="3" name="00_era_accuracy.png" title="00_era_accuracy.png">
            <a:extLst>
              <a:ext uri="{FF2B5EF4-FFF2-40B4-BE49-F238E27FC236}">
                <a16:creationId xmlns:a16="http://schemas.microsoft.com/office/drawing/2014/main" id="{E77FD630-DD7D-9363-995A-1D0A205AB404}"/>
              </a:ext>
            </a:extLst>
          </p:cNvPr>
          <p:cNvPicPr>
            <a:picLocks noChangeAspect="1"/>
          </p:cNvPicPr>
          <p:nvPr/>
        </p:nvPicPr>
        <p:blipFill>
          <a:blip r:embed="rId5"/>
          <a:srcRect/>
          <a:stretch>
            <a:fillRect/>
          </a:stretch>
        </p:blipFill>
        <p:spPr bwMode="auto">
          <a:xfrm>
            <a:off x="8184125" y="2049155"/>
            <a:ext cx="3626288" cy="2150149"/>
          </a:xfrm>
          <a:prstGeom prst="rect">
            <a:avLst/>
          </a:prstGeom>
        </p:spPr>
      </p:pic>
    </p:spTree>
    <p:extLst>
      <p:ext uri="{BB962C8B-B14F-4D97-AF65-F5344CB8AC3E}">
        <p14:creationId xmlns:p14="http://schemas.microsoft.com/office/powerpoint/2010/main" val="702440656"/>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262</TotalTime>
  <Words>327</Words>
  <Application>Microsoft Office PowerPoint</Application>
  <PresentationFormat>Widescreen</PresentationFormat>
  <Paragraphs>44</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Aptos</vt:lpstr>
      <vt:lpstr>Arial</vt:lpstr>
      <vt:lpstr>Assistant</vt:lpstr>
      <vt:lpstr>Calibri</vt:lpstr>
      <vt:lpstr>Calibri Light</vt:lpstr>
      <vt:lpstr>Consolas</vt:lpstr>
      <vt:lpstr>David</vt:lpstr>
      <vt:lpstr>Segoe UI Semibold</vt:lpstr>
      <vt:lpstr>ערכת נושא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שם המחלקה שמות הסטודנטים שמות המנחים</dc:title>
  <dc:creator>Talia Gersh</dc:creator>
  <cp:lastModifiedBy>Nehoray Sade</cp:lastModifiedBy>
  <cp:revision>36</cp:revision>
  <dcterms:created xsi:type="dcterms:W3CDTF">2023-02-05T11:40:03Z</dcterms:created>
  <dcterms:modified xsi:type="dcterms:W3CDTF">2026-06-15T16:26:06Z</dcterms:modified>
</cp:coreProperties>
</file>