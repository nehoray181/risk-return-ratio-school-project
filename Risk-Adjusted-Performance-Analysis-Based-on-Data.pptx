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Medium"/>
      <p:regular r:id="rId201314"/>
    </p:embeddedFont>
    <p:embeddedFont>
      <p:font typeface="DM Sans Bold"/>
      <p:regular r:id="rId201315"/>
    </p:embeddedFont>
    <p:embeddedFont>
      <p:font typeface="Inter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701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Risk-Adjusted Performance Analysis Based on Data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736503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project — summary report for a Bachelor of Science (B.Sc.) degree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Nehorai Sadeh and Aviv Asraf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Supervised by Dr. Dvir Ross | Department of Computer Science, Sami Shamoon College of Engineering, Be'er Sheva | 02/06/2026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35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Abstract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007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examines the Sharpe, Treynor, Calmar, Sortino, and Information ratios, and proposes a new metric: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\text{diff} \times r \times 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metric is derived from an exponential regression on the asset price.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13174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diff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861444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 of the current price from the trend 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413174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2861444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coefficient — quality of fit to the trend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413174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25549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2861444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growth slope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61630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100 ETFs over 9 market regimes, the new metric acts as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mean-reversion signal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the classical ratios behave as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momentum signals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Combining them according to the market regime outperforms each one individually.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50416"/>
            <a:ext cx="341009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Five Classic Ratios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69528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ratio highlights a different aspect of risk and is suited to different market conditions: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912" y="1124620"/>
            <a:ext cx="7642101" cy="664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4656" y="124963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Sharpe (1966)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294656" y="1474515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return per unit of total volatility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912" y="1875606"/>
            <a:ext cx="7642101" cy="664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4656" y="20006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Sortino (1994)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294656" y="2225501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return per unit of downside volatility only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912" y="2626593"/>
            <a:ext cx="7642101" cy="664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4656" y="275160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Treynor (1965)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294656" y="2976488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return per unit of systematic risk (β)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912" y="3377580"/>
            <a:ext cx="7642101" cy="664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4656" y="350259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Information (1989)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294656" y="3727475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of outperformance versus benchmark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0912" y="4128567"/>
            <a:ext cx="7642101" cy="664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4656" y="425358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Calmar (1991)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294656" y="4478462"/>
            <a:ext cx="697334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return relative to max drawdown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1621"/>
            <a:ext cx="4863182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new metric: </a:t>
            </a:r>
            <a:pPr algn="l" indent="0" marL="0">
              <a:lnSpc>
                <a:spcPct val="104000"/>
              </a:lnSpc>
              <a:buNone/>
            </a:pPr>
            <a:r>
              <a:rPr lang="en-US" sz="2750" i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\text{diff} \times r \times b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3364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fit an exponential model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= a \cdot e^{bt}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the historical price (OLS regression on log-price):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2300883"/>
            <a:ext cx="2618184" cy="808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2319933"/>
            <a:ext cx="177202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Fit quality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5977" y="2636565"/>
            <a:ext cx="2419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correlation between log-price and time (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|r| \leq 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3383" y="2300883"/>
            <a:ext cx="2618184" cy="808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2292" y="2319933"/>
            <a:ext cx="177202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Growth slope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52292" y="2636565"/>
            <a:ext cx="24192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growth rate (log-growth rate)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9697" y="2300883"/>
            <a:ext cx="2618184" cy="808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28606" y="2319933"/>
            <a:ext cx="1772022" cy="229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\text{diff}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Price deviation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28606" y="2634407"/>
            <a:ext cx="2419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ExpReg(last) − Price(last): signed distance from the trend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249662"/>
            <a:ext cx="8151763" cy="552748"/>
          </a:xfrm>
          <a:prstGeom prst="roundRect">
            <a:avLst>
              <a:gd name="adj" fmla="val 3847"/>
            </a:avLst>
          </a:prstGeom>
          <a:solidFill>
            <a:srgbClr val="02234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450431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41262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below the trend + positive trend → positive score → predicted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(mean reversion)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75406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Experiment Design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283" y="713854"/>
            <a:ext cx="5469285" cy="3552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2682" y="938494"/>
            <a:ext cx="1620695" cy="37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1: Training Window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972682" y="1370568"/>
            <a:ext cx="1620695" cy="255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the 6 metrics on 100 funds.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15298" y="3354196"/>
            <a:ext cx="1513097" cy="18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2: Test Window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761499" y="3597132"/>
            <a:ext cx="1620695" cy="255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direction and realize returns.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04115" y="1127631"/>
            <a:ext cx="1513097" cy="18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3: Evaluation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550316" y="1370568"/>
            <a:ext cx="1620695" cy="255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Directional accuracy and long/short portfolio return.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09452" y="4341837"/>
            <a:ext cx="6725022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experiment includes a systematic scan of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 configurations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(9 periods × 5 training windows × 4 test windows) across 100 exchange-traded funds (ETFs). Each metric is converted into a directional forecast: a positive score predicts an increase, and a negative score predicts a decrease. In addition, a dollar-neutral long/short portfolio is constructed (10 assets on each side, weights proportional to |score|, with a strict cap on the short side).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48779"/>
            <a:ext cx="6256437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Global Results: Regime-Dependent Edge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004218"/>
            <a:ext cx="3997003" cy="2876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5367" y="991121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5367" y="1286098"/>
            <a:ext cx="39970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metric wins at turning points and in volatile markets, and loses in persistent trends. The pattern is not random — it is the signature of a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mean-reversion signal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versus a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momentum signal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26393" y="4116660"/>
            <a:ext cx="8291215" cy="677987"/>
          </a:xfrm>
          <a:prstGeom prst="roundRect">
            <a:avLst>
              <a:gd name="adj" fmla="val 2695"/>
            </a:avLst>
          </a:prstGeom>
          <a:solidFill>
            <a:srgbClr val="4C5052"/>
          </a:solidFill>
          <a:ln/>
        </p:spPr>
      </p:sp>
      <p:sp>
        <p:nvSpPr>
          <p:cNvPr id="7" name="Shape 4"/>
          <p:cNvSpPr/>
          <p:nvPr/>
        </p:nvSpPr>
        <p:spPr>
          <a:xfrm>
            <a:off x="426393" y="4116660"/>
            <a:ext cx="4145607" cy="677987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548208" y="423847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new metric wins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208" y="4491633"/>
            <a:ext cx="39019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Reversals + volatile markets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0" y="4116660"/>
            <a:ext cx="4145607" cy="677987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4116660"/>
            <a:ext cx="14288" cy="677987"/>
          </a:xfrm>
          <a:prstGeom prst="roundRect">
            <a:avLst>
              <a:gd name="adj" fmla="val 127902"/>
            </a:avLst>
          </a:prstGeom>
          <a:solidFill>
            <a:srgbClr val="65696B"/>
          </a:solidFill>
          <a:ln/>
        </p:spPr>
      </p:sp>
      <p:sp>
        <p:nvSpPr>
          <p:cNvPr id="12" name="Text 9"/>
          <p:cNvSpPr/>
          <p:nvPr/>
        </p:nvSpPr>
        <p:spPr>
          <a:xfrm>
            <a:off x="4693816" y="423847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Classic ratios win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93816" y="4491633"/>
            <a:ext cx="39019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trends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0253"/>
            <a:ext cx="80203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Studies A and B — The New Metric Wins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05310"/>
            <a:ext cx="2120950" cy="266402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2047801"/>
            <a:ext cx="240803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A — COVID CRASH REBOUND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328416"/>
            <a:ext cx="34400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Directional accuracy: 96.9% vs 9.2%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691631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training window ended near the March 2020 bottom. Almost all ETFs sat below their exponential trend → large positive diff → predicted UP. The classic ratios, depressed by catastrophic returns, forecast continued decline. Long/short portfolio return: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+10.9% vs −8.8%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2005310"/>
            <a:ext cx="2178323" cy="266402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8" name="Text 6"/>
          <p:cNvSpPr/>
          <p:nvPr/>
        </p:nvSpPr>
        <p:spPr>
          <a:xfrm>
            <a:off x="4834756" y="2047801"/>
            <a:ext cx="24654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B — 2022 CHOPPY BEAR TAPE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49701" y="2328416"/>
            <a:ext cx="35587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Directional accuracy: 90.0% vs 22.6%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691631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2022 — a market with no clear direction, mean-reverting. Extended names below trend snapped back, names above it faded. Long/short portfolio return: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+8.1% vs +2.4%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shows the advantage is not unique to a single crash.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240"/>
            <a:ext cx="75146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Case Studies C &amp; D — Classical Ratios Win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51297"/>
            <a:ext cx="259608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936" y="1498550"/>
            <a:ext cx="28736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 — POST-COVID MOMENTUM RALLY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783928"/>
            <a:ext cx="3446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Directional accuracy: 2.0% vs 93.9%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147143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2020 — the market had risen for months. Most ETFs were above their trend → negative diff → predicted pullback that never came. Momentum continued. The classical ratios (momentum signals) were right in almost every case.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1451297"/>
            <a:ext cx="222996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9519" y="1498550"/>
            <a:ext cx="25075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D — 2022 SUSTAINED DECLINE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49701" y="1783928"/>
            <a:ext cx="33837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Directional accuracy: 8.1% vs 79.0%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14714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Prolonged, directional decline. Names below trend kept falling — the mean-reversion signal "caught a falling knife." Long/short portfolio return: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−6.4% vs +7.8%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568229"/>
            <a:ext cx="8151763" cy="779562"/>
          </a:xfrm>
          <a:prstGeom prst="roundRect">
            <a:avLst>
              <a:gd name="adj" fmla="val 2728"/>
            </a:avLst>
          </a:prstGeom>
          <a:solidFill>
            <a:srgbClr val="4B3F0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68998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56816" y="3731196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trend persists, mean-reversion forecasting is systematically wrong — this is the mirror image of case 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6676"/>
            <a:ext cx="8068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Discussion: Two Complementary Signal Types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93181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1993181"/>
            <a:ext cx="4075881" cy="1043657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134939"/>
            <a:ext cx="28969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new metric — Mean-Reversion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441451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when price is below a stable trend. Predicts a return to trend. Wins in reversals and volatile markets.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993181"/>
            <a:ext cx="4075881" cy="1043657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993181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9" name="Text 7"/>
          <p:cNvSpPr/>
          <p:nvPr/>
        </p:nvSpPr>
        <p:spPr>
          <a:xfrm>
            <a:off x="4713759" y="2134939"/>
            <a:ext cx="26568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classic ratios — Momentum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3759" y="2441451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after strong risk-adjusted returns. Predict continuation. Win in sustained trends.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196307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literature (Jegadeesh &amp; Titman, 1993; Daniel &amp; Moskowitz, 2016) documents "momentum crashes" in reversals — Case A is a classic example. The takeaway: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regime-aware combination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switching between the two types according to volatility, trend strength, or the size of diff — is expected to outperform either family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9286"/>
            <a:ext cx="53576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Work and Conclusions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16633"/>
            <a:ext cx="33137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 Step: Walk-Forward Backtest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7984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experiment uses static windows. A natural extension is a rolling training window day by day/month by month, recalculating metrics and rebalancing portfolios — to create a continuous equity curve.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14650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whether the regime-dependent edge survives sequential rebalancing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regime filters (volatility, trend strength, diff size) cycle by cycle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to transaction costs, turnover, and short-borrow constraints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7605" y="1374874"/>
            <a:ext cx="4107135" cy="3049339"/>
          </a:xfrm>
          <a:prstGeom prst="roundRect">
            <a:avLst>
              <a:gd name="adj" fmla="val 697"/>
            </a:avLst>
          </a:prstGeom>
          <a:solidFill>
            <a:srgbClr val="AC9EF5"/>
          </a:solidFill>
          <a:ln/>
        </p:spPr>
      </p:sp>
      <p:sp>
        <p:nvSpPr>
          <p:cNvPr id="7" name="Text 5"/>
          <p:cNvSpPr/>
          <p:nvPr/>
        </p:nvSpPr>
        <p:spPr>
          <a:xfrm>
            <a:off x="4789363" y="1516633"/>
            <a:ext cx="22938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Conclusions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879848"/>
            <a:ext cx="3823618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\text{diff} \times r \times b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metric is a mean-reversion signal, not a replacement for the classic ratios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classic ratios behave in practice as momentum signals — direct empirical evidence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 types of metrics are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complementary, not competing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Regime-based combination outperforms any single metric on its own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2026-06-10T18:28:53Z</dcterms:created>
  <dcterms:modified xsi:type="dcterms:W3CDTF">2026-06-10T18:28:53Z</dcterms:modified>
</cp:coreProperties>
</file>