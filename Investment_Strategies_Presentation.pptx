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874520"/>
            <a:ext cx="36576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9436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Investment Strategies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20116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Performance Measures &amp; a Novel Exponential-Fit Approach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" y="288036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Nehoray Sade &amp; Aviv Asraf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Dr. Dvir Roos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 — Sami Shamoon College of 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0" y="18288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BS-CS-26-141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24912" cy="1444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57200" cy="14447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4813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14300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risk-adjusted measures are critical in financial decision-making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26664" y="960120"/>
            <a:ext cx="2724912" cy="1444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26664" y="960120"/>
            <a:ext cx="457200" cy="14447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26664" y="14813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75304" y="114300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Classical Ratios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75304" y="155448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Sortino, Treynor, Information &amp; Calmar — formulas &amp; concepts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779008" y="960120"/>
            <a:ext cx="2724912" cy="1444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79008" y="960120"/>
            <a:ext cx="457200" cy="14447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148132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7648" y="114300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7648" y="155448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tails, volatility clustering &amp; regime dependency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69464"/>
            <a:ext cx="2724912" cy="1444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569464"/>
            <a:ext cx="457200" cy="14447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906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27523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163824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measures &amp; exponential compounding behavior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26664" y="2569464"/>
            <a:ext cx="2724912" cy="1444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26664" y="2569464"/>
            <a:ext cx="457200" cy="14447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26664" y="30906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575304" y="27523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Novel Metric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75304" y="3163824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Exponential-fit approach for evaluating return consistency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79008" y="2569464"/>
            <a:ext cx="2724912" cy="1444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79008" y="2569464"/>
            <a:ext cx="457200" cy="14447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9008" y="309067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27648" y="2752344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27648" y="3163824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5-step research workflow &amp; future empirical testing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Risk-Adjusted Measures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performance measures allow investors to compare assets by incorporating multiple dimensions of risk: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20848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29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volatility (Sharpe)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5237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volatility only (Sortino)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6265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9077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market risk (Treynor)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015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3467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peak-to-trough loss (Calmar)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86200"/>
            <a:ext cx="48463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886200"/>
            <a:ext cx="10972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4251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ratios rely on simplified assumptions that don't reflect real-world market dynamics: volatility is treated symmetrically, distributions are assumed normal, and compounding effects are ignored.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77840" y="91440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ratios are central to: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1371600"/>
            <a:ext cx="33375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1371600"/>
            <a:ext cx="109728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16642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Construction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2560320"/>
            <a:ext cx="33375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2560320"/>
            <a:ext cx="109728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79008" y="285292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Management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77840" y="3749040"/>
            <a:ext cx="333756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3749040"/>
            <a:ext cx="109728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404164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Classical Risk-Adjusted Ratios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82296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8778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Ratio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2252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1966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06624" y="950976"/>
            <a:ext cx="157276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06624" y="9509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 - Rf) / σp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490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return per unit of total volatility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90195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1901952"/>
            <a:ext cx="10972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9568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Sortino Ratio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8912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&amp; Price, 1994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06624" y="2029968"/>
            <a:ext cx="157276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06624" y="202996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 - Rf) / σd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2569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only downside volatility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980944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980944"/>
            <a:ext cx="109728" cy="9601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358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Treynor Ratio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" y="33832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Treynor, 1965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06624" y="3108960"/>
            <a:ext cx="157276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06624" y="310896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 - Rf) / βp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8912" y="36484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return per unit of systematic (market) risk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27448" y="822960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27448" y="822960"/>
            <a:ext cx="109728" cy="9601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8778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Ratio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10328" y="12252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Grinold, 1989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78040" y="950976"/>
            <a:ext cx="157276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9509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(Rp-Rb) / σ(Rp-Rb)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10328" y="1490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of beating a benchmark, risk-adjusted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27448" y="1901952"/>
            <a:ext cx="4160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27448" y="1901952"/>
            <a:ext cx="109728" cy="9601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19568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Calmar Ratio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10328" y="2304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Young, 1991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78040" y="2029968"/>
            <a:ext cx="1572768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78040" y="202996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(Rp - Rf) / Dmax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10328" y="25694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return relative to maximum drawdown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27448" y="3035808"/>
            <a:ext cx="4160520" cy="18105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27448" y="3035808"/>
            <a:ext cx="41605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46320" y="3547872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ratio is built on specific assumptions and captures a different dimension of risk. No single ratio is universally superior — their outputs may conflict across different market regimes.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Classical Ratios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2816352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96112"/>
            <a:ext cx="28163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98448" y="1152144"/>
            <a:ext cx="768096" cy="76809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115214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2084832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Clustering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263347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Engle, 1982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953512"/>
            <a:ext cx="2487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Periods of high and low volatility persist over time, violating the constant-variance assumption underlying Sharpe and Sortino ratios. The metrics produce misleading signals during these periods.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896112"/>
            <a:ext cx="2816352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896112"/>
            <a:ext cx="281635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152144"/>
            <a:ext cx="768096" cy="7680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15214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∿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2084832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 Tails &amp; Excess Kurtosis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63347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Cont, 2001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92424" y="2953512"/>
            <a:ext cx="2487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distributions have far more extreme events than normal distributions predict. Volatility-based ratios systematically underestimate downside risk as a result.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896112"/>
            <a:ext cx="2816352" cy="3931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896112"/>
            <a:ext cx="2816352" cy="731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05472" y="1152144"/>
            <a:ext cx="768096" cy="768096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1152144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91072" y="2084832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Dependency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91072" y="2633472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Kritzman &amp; Li, 2010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45936" y="2953512"/>
            <a:ext cx="2487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ratios behave inconsistently across bull markets, bear markets, and crisis periods — producing materially different asset rankings in different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 — Alternative Approaches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5029200" cy="12984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96112"/>
            <a:ext cx="10972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058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Omega Ratio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4173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Considers the entire return distribution rather than a single volatility measure. Computes the ratio of gains to losses relative to a threshold return — no normality assumption needed.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404872"/>
            <a:ext cx="5029200" cy="12984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404872"/>
            <a:ext cx="10972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5146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Upside Potential Ratio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92608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the frequency and magnitude of returns above a target level, providing a more nuanced view of upside potential versus downside risk.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968496"/>
            <a:ext cx="5029200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05993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Volatility alone is not a complete measure of risk. Structural information about the distribution and compounding dynamics is essential.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23560" y="8961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Compounding &amp; Price Behavior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23560" y="1389888"/>
            <a:ext cx="3246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16093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14447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Multiplicative Process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17373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prices evolve multiplicatively, not additively — making exponential models natural.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2231136"/>
            <a:ext cx="3246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245059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2286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Log-Linear Regression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9320" y="25786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 log-price data to a linear model reveals the stability of compounding returns.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3072384"/>
            <a:ext cx="3246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329184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3127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Fit → Stability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9320" y="34198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R² in log-price space signals consistent compounding dynamics over time.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3913632"/>
            <a:ext cx="3246120" cy="7132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23560" y="4133088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3968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Fit → Instability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89320" y="42611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R² indicates regime shifts, noise, or structural breaks in the price process.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Novel Approach — The Exponential-Fit Metric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868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86968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closely does an asset's historical pricing behavior align with a smooth exponential compounding structure?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395728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395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log-transformed price data over a historical window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017520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953512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a log-linear regression model to the transformed prices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639312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639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57530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goodness-of-fit (R²) as a structural stability indicator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261104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197096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R² = consistent compounding; Low R² = structural noise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8745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Differs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423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momentum —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identify trend direction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01752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108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trend-following —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predict future price movements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0332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7947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measure —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stability of the return-generation process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438912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44805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ratios — 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structural info that volatility alone misses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Findings — Market Regimes &amp; Regression Analysis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 Under Trending Markets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148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91440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98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Jegadeesh &amp; Titman (1993)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70078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effects cause Sharpe &amp; Sortino to overestimate performance during prolonged growth periods.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505456"/>
            <a:ext cx="41148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505456"/>
            <a:ext cx="91440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968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Moskowitz, Ooi &amp; Pedersen (2012)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90779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strategies work in stable trends but suffer sharp reversals during abrupt market transitions.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712464"/>
            <a:ext cx="411480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712464"/>
            <a:ext cx="91440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03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 &amp; French (2012)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effects vary significantly across conditions — ratios implicitly react to underlying trend stability.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8412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Regression-Based Price Analysis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298448"/>
            <a:ext cx="4160520" cy="7863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298448"/>
            <a:ext cx="91440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3716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Log-linear regression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6824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exponential growth naturally arising from compounding returns.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212848"/>
            <a:ext cx="4160520" cy="7863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212848"/>
            <a:ext cx="91440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2860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R² → Stability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5968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consistent compounding dynamics and reliable return generation.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127248"/>
            <a:ext cx="4160520" cy="7863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127248"/>
            <a:ext cx="91440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2004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R² → Instability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35112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noise, regime shifts, or structural breaks in the price process.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4041648"/>
            <a:ext cx="4160520" cy="78638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4041648"/>
            <a:ext cx="91440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1148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analysis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deviations from expected growth and periods of elevated uncertainty (Brockwell &amp; Davis, 2016).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Research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59436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&amp; Analyze Classical Ratios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2435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Python scripts and Yahoo Finance data, compute all 5 ratios across a diverse asset universe. Study behavior and identify misleading-signal cases.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91640"/>
            <a:ext cx="594360" cy="7315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745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7647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Theoretical Motivations &amp; Limitations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09397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mathematical assumptions of each ratio to empirical market outcomes. Map where each measure succeeds or fails.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42032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542032"/>
            <a:ext cx="594360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2491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615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 the Exponential-Fit Metric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94436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proposed metric: apply log-linear regression to historical prices; use R² as a structural stability indicator of compounding behavior.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92424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392424"/>
            <a:ext cx="594360" cy="73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57530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46557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Stability &amp; Interpretability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79476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benchmark the novel metric against all 5 classical ratios across different assets, timeframes, and market conditions.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242816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42816"/>
            <a:ext cx="594360" cy="7315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42569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431596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Scenarios for Empirical Testing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64515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across distinct market regimes (bull, bear, crisis), multiple asset classes, and stress periods to refine and confirm the metric's utility.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4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62E56"/>
          </a:solidFill>
          <a:ln w="12700">
            <a:solidFill>
              <a:srgbClr val="162E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170432"/>
            <a:ext cx="32918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11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5331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ratios are essential tools — but each relies on simplifying assumptions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039112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476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ratios capture different dimensions of risk; none is universally optimal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633472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420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returns violate normality, constant-variance, and symmetry assumptions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227832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1363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exponential-fit metric evaluates the consistency of compounding structure over 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22192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3075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empirical testing across diverse asset classes and market regimes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" y="47091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Nehoray Sade &amp; Aviv Asraf  |  Advisor: Dr. Dvir Roos  |  SCE,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Investment Strategies</dc:title>
  <dc:subject>PptxGenJS Presentation</dc:subject>
  <dc:creator>PptxGenJS</dc:creator>
  <cp:lastModifiedBy>PptxGenJS</cp:lastModifiedBy>
  <cp:revision>1</cp:revision>
  <dcterms:created xsi:type="dcterms:W3CDTF">2026-04-16T13:40:30Z</dcterms:created>
  <dcterms:modified xsi:type="dcterms:W3CDTF">2026-04-16T13:40:30Z</dcterms:modified>
</cp:coreProperties>
</file>